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D6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17320"/>
            <a:ext cx="103601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4600" b="1" i="0">
                <a:solidFill>
                  <a:srgbClr val="16324A"/>
                </a:solidFill>
                <a:latin typeface="Segoe UI"/>
              </a:rPr>
              <a:t>Da OCGAN a PatchCore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2514600"/>
            <a:ext cx="92628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6B747E"/>
                </a:solidFill>
                <a:latin typeface="Segoe UI"/>
              </a:rPr>
              <a:t>Anomaly detection one-class: da un paper CVPR 2019 a un sistema industriale su MVTec 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3310128"/>
            <a:ext cx="92628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1C2128"/>
                </a:solidFill>
                <a:latin typeface="Segoe UI"/>
              </a:rPr>
              <a:t>Alessandro Pata  ·  giugno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0927" y="4297680"/>
            <a:ext cx="3108960" cy="1371600"/>
          </a:xfrm>
          <a:prstGeom prst="roundRect">
            <a:avLst>
              <a:gd name="adj" fmla="val 6000"/>
            </a:avLst>
          </a:prstGeom>
          <a:solidFill>
            <a:srgbClr val="F2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2D6A8F"/>
                </a:solidFill>
                <a:latin typeface="Segoe UI"/>
              </a:rPr>
              <a:t>11.738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B747E"/>
                </a:solidFill>
                <a:latin typeface="Segoe UI"/>
              </a:rPr>
              <a:t>run di ablation su disco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41367" y="4297680"/>
            <a:ext cx="3108960" cy="1371600"/>
          </a:xfrm>
          <a:prstGeom prst="roundRect">
            <a:avLst>
              <a:gd name="adj" fmla="val 6000"/>
            </a:avLst>
          </a:prstGeom>
          <a:solidFill>
            <a:srgbClr val="F2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2D6A8F"/>
                </a:solidFill>
                <a:latin typeface="Segoe UI"/>
              </a:rPr>
              <a:t>15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B747E"/>
                </a:solidFill>
                <a:latin typeface="Segoe UI"/>
              </a:rPr>
              <a:t>categorie MVTec AD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61807" y="4297680"/>
            <a:ext cx="3108960" cy="1371600"/>
          </a:xfrm>
          <a:prstGeom prst="roundRect">
            <a:avLst>
              <a:gd name="adj" fmla="val 6000"/>
            </a:avLst>
          </a:prstGeom>
          <a:solidFill>
            <a:srgbClr val="F2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1F9D55"/>
                </a:solidFill>
                <a:latin typeface="Segoe UI"/>
              </a:rPr>
              <a:t>0.9846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B747E"/>
                </a:solidFill>
                <a:latin typeface="Segoe UI"/>
              </a:rPr>
              <a:t>macro AUROC finale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6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6B747E"/>
                </a:solidFill>
                <a:latin typeface="Segoe UI"/>
              </a:rPr>
              <a:t>2019 · IL PUNTO DI PARTENZA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900" b="1" i="0">
                <a:solidFill>
                  <a:srgbClr val="16324A"/>
                </a:solidFill>
                <a:latin typeface="Segoe UI"/>
              </a:rPr>
              <a:t>OCGAN — One-Class Novelty Detection (CVPR 2019)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67665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1" i="0">
                <a:solidFill>
                  <a:srgbClr val="2D6A8F"/>
                </a:solidFill>
                <a:latin typeface="Segoe UI"/>
              </a:rPr>
              <a:t>▪  </a:t>
            </a:r>
            <a:r>
              <a:rPr sz="1500" b="1" i="0">
                <a:solidFill>
                  <a:srgbClr val="1C2128"/>
                </a:solidFill>
                <a:latin typeface="Segoe UI"/>
              </a:rPr>
              <a:t>L'idea: </a:t>
            </a:r>
            <a:r>
              <a:rPr sz="1500" b="0" i="0">
                <a:solidFill>
                  <a:srgbClr val="1C2128"/>
                </a:solidFill>
                <a:latin typeface="Segoe UI"/>
              </a:rPr>
              <a:t>non basta ricostruire bene la classe normale — l'intero spazio latente deve rappresentare solo la normalità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1" i="0">
                <a:solidFill>
                  <a:srgbClr val="2D6A8F"/>
                </a:solidFill>
                <a:latin typeface="Segoe UI"/>
              </a:rPr>
              <a:t>▪  </a:t>
            </a:r>
            <a:r>
              <a:rPr sz="1500" b="1" i="0">
                <a:solidFill>
                  <a:srgbClr val="1C2128"/>
                </a:solidFill>
                <a:latin typeface="Segoe UI"/>
              </a:rPr>
              <a:t>Informative-negative mining: </a:t>
            </a:r>
            <a:r>
              <a:rPr sz="1500" b="0" i="0">
                <a:solidFill>
                  <a:srgbClr val="1C2128"/>
                </a:solidFill>
                <a:latin typeface="Segoe UI"/>
              </a:rPr>
              <a:t>ricerca adversariale (gradient ascent nel latent) delle zone che generano immagini fuori classe — e lì si rieduca il generatore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1" i="0">
                <a:solidFill>
                  <a:srgbClr val="2D6A8F"/>
                </a:solidFill>
                <a:latin typeface="Segoe UI"/>
              </a:rPr>
              <a:t>▪  </a:t>
            </a:r>
            <a:r>
              <a:rPr sz="1500" b="1" i="0">
                <a:solidFill>
                  <a:srgbClr val="1C2128"/>
                </a:solidFill>
                <a:latin typeface="Segoe UI"/>
              </a:rPr>
              <a:t>4 componenti: </a:t>
            </a:r>
            <a:r>
              <a:rPr sz="1500" b="0" i="0">
                <a:solidFill>
                  <a:srgbClr val="1C2128"/>
                </a:solidFill>
                <a:latin typeface="Segoe UI"/>
              </a:rPr>
              <a:t>denoising autoencoder + latent discriminator + visual discriminator + classificatore che guida il mining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1" i="0">
                <a:solidFill>
                  <a:srgbClr val="2D6A8F"/>
                </a:solidFill>
                <a:latin typeface="Segoe UI"/>
              </a:rPr>
              <a:t>▪  </a:t>
            </a:r>
            <a:r>
              <a:rPr sz="1500" b="1" i="0">
                <a:solidFill>
                  <a:srgbClr val="1C2128"/>
                </a:solidFill>
                <a:latin typeface="Segoe UI"/>
              </a:rPr>
              <a:t>Score finale: </a:t>
            </a:r>
            <a:r>
              <a:rPr sz="1500" b="0" i="0">
                <a:solidFill>
                  <a:srgbClr val="1C2128"/>
                </a:solidFill>
                <a:latin typeface="Segoe UI"/>
              </a:rPr>
              <a:t>solo errore di ricostruzione (MSE), loss = 10·MSE + termini adversariali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35240" y="1600200"/>
            <a:ext cx="3977639" cy="3291840"/>
          </a:xfrm>
          <a:prstGeom prst="roundRect">
            <a:avLst>
              <a:gd name="adj" fmla="val 6000"/>
            </a:avLst>
          </a:prstGeom>
          <a:solidFill>
            <a:srgbClr val="F2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6B747E"/>
                </a:solidFill>
                <a:latin typeface="Segoe UI"/>
              </a:rPr>
              <a:t>I numeri del paper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1C2128"/>
                </a:solidFill>
                <a:latin typeface="Segoe UI"/>
              </a:rPr>
              <a:t>MNIST    </a:t>
            </a:r>
            <a:r>
              <a:rPr sz="2000" b="1" i="0">
                <a:solidFill>
                  <a:srgbClr val="2D6A8F"/>
                </a:solidFill>
                <a:latin typeface="Segoe UI"/>
              </a:rPr>
              <a:t>0.9750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0" i="0">
                <a:solidFill>
                  <a:srgbClr val="1C2128"/>
                </a:solidFill>
                <a:latin typeface="Segoe UI"/>
              </a:rPr>
              <a:t>CIFAR-10  </a:t>
            </a:r>
            <a:r>
              <a:rPr sz="2000" b="1" i="0">
                <a:solidFill>
                  <a:srgbClr val="C2553A"/>
                </a:solidFill>
                <a:latin typeface="Segoe UI"/>
              </a:rPr>
              <a:t>0.6566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1">
                <a:solidFill>
                  <a:srgbClr val="6B747E"/>
                </a:solidFill>
                <a:latin typeface="Segoe UI"/>
              </a:rPr>
              <a:t>Ablation: l'autoencoder da solo fa già 0.957; tutto l'apparato adversariale aggiunge +0.018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212080"/>
            <a:ext cx="11091672" cy="566928"/>
          </a:xfrm>
          <a:prstGeom prst="roundRect">
            <a:avLst>
              <a:gd name="adj" fmla="val 6000"/>
            </a:avLst>
          </a:prstGeom>
          <a:solidFill>
            <a:srgbClr val="F2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6324A"/>
                </a:solidFill>
                <a:latin typeface="Segoe UI"/>
              </a:rPr>
              <a:t>Limiti: </a:t>
            </a:r>
            <a:r>
              <a:rPr sz="1350" b="0" i="0">
                <a:solidFill>
                  <a:srgbClr val="1C2128"/>
                </a:solidFill>
                <a:latin typeface="Segoe UI"/>
              </a:rPr>
              <a:t>immagini piccole mono-concetto, score solo pixel, risultati misurati una volta sola.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6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6B747E"/>
                </a:solidFill>
                <a:latin typeface="Segoe UI"/>
              </a:rPr>
              <a:t>L'OBIETTIVO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900" b="1" i="0">
                <a:solidFill>
                  <a:srgbClr val="16324A"/>
                </a:solidFill>
                <a:latin typeface="Segoe UI"/>
              </a:rPr>
              <a:t>Dal benchmark accademico al problema industriale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10642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500" b="1" i="0">
                <a:solidFill>
                  <a:srgbClr val="2D6A8F"/>
                </a:solidFill>
                <a:latin typeface="Segoe UI"/>
              </a:rPr>
              <a:t>▪  </a:t>
            </a:r>
            <a:r>
              <a:rPr sz="1600" b="1" i="0">
                <a:solidFill>
                  <a:srgbClr val="1C2128"/>
                </a:solidFill>
                <a:latin typeface="Segoe UI"/>
              </a:rPr>
              <a:t>MVTec AD: </a:t>
            </a:r>
            <a:r>
              <a:rPr sz="1600" b="0" i="0">
                <a:solidFill>
                  <a:srgbClr val="1C2128"/>
                </a:solidFill>
                <a:latin typeface="Segoe UI"/>
              </a:rPr>
              <a:t>15 categorie (10 oggetti + 5 texture), training solo su pezzi integri, difetti reali al test (graffi, contaminazioni, parti mancanti…)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500" b="1" i="0">
                <a:solidFill>
                  <a:srgbClr val="2D6A8F"/>
                </a:solidFill>
                <a:latin typeface="Segoe UI"/>
              </a:rPr>
              <a:t>▪  </a:t>
            </a:r>
            <a:r>
              <a:rPr sz="1600" b="1" i="0">
                <a:solidFill>
                  <a:srgbClr val="1C2128"/>
                </a:solidFill>
                <a:latin typeface="Segoe UI"/>
              </a:rPr>
              <a:t>Protocollo a 4 split: </a:t>
            </a:r>
            <a:r>
              <a:rPr sz="1600" b="0" i="0">
                <a:solidFill>
                  <a:srgbClr val="1C2128"/>
                </a:solidFill>
                <a:latin typeface="Segoe UI"/>
              </a:rPr>
              <a:t>train_normal / val_normal / val_mixed / test blind — il test non tocca mai il tuning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500" b="1" i="0">
                <a:solidFill>
                  <a:srgbClr val="2D6A8F"/>
                </a:solidFill>
                <a:latin typeface="Segoe UI"/>
              </a:rPr>
              <a:t>▪  </a:t>
            </a:r>
            <a:r>
              <a:rPr sz="1600" b="1" i="0">
                <a:solidFill>
                  <a:srgbClr val="1C2128"/>
                </a:solidFill>
                <a:latin typeface="Segoe UI"/>
              </a:rPr>
              <a:t>Multi-seed obbligatorio: </a:t>
            </a:r>
            <a:r>
              <a:rPr sz="1600" b="0" i="0">
                <a:solidFill>
                  <a:srgbClr val="1C2128"/>
                </a:solidFill>
                <a:latin typeface="Segoe UI"/>
              </a:rPr>
              <a:t>3–5 seed, media ± std (su toothbrush la std del GAN è ±0.17: un seed solo racconta qualunque storia)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500" b="1" i="0">
                <a:solidFill>
                  <a:srgbClr val="2D6A8F"/>
                </a:solidFill>
                <a:latin typeface="Segoe UI"/>
              </a:rPr>
              <a:t>▪  </a:t>
            </a:r>
            <a:r>
              <a:rPr sz="1600" b="1" i="0">
                <a:solidFill>
                  <a:srgbClr val="1C2128"/>
                </a:solidFill>
                <a:latin typeface="Segoe UI"/>
              </a:rPr>
              <a:t>Metrica guida: </a:t>
            </a:r>
            <a:r>
              <a:rPr sz="1600" b="0" i="0">
                <a:solidFill>
                  <a:srgbClr val="1C2128"/>
                </a:solidFill>
                <a:latin typeface="Segoe UI"/>
              </a:rPr>
              <a:t>macro AUROC sulle 15 categorie, più AUPRC, F1 e FPR@95TPR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6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6B747E"/>
                </a:solidFill>
                <a:latin typeface="Segoe UI"/>
              </a:rPr>
              <a:t>LA STRATEGIA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900" b="1" i="0">
                <a:solidFill>
                  <a:srgbClr val="16324A"/>
                </a:solidFill>
                <a:latin typeface="Segoe UI"/>
              </a:rPr>
              <a:t>Binario B: modernizzare OCGAN, non difenderlo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94960" cy="3611880"/>
          </a:xfrm>
          <a:prstGeom prst="roundRect">
            <a:avLst>
              <a:gd name="adj" fmla="val 6000"/>
            </a:avLst>
          </a:prstGeom>
          <a:solidFill>
            <a:srgbClr val="F2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46304" rIns="164592"/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00" b="1" i="0">
                <a:solidFill>
                  <a:srgbClr val="C2553A"/>
                </a:solidFill>
                <a:latin typeface="Segoe UI"/>
              </a:rPr>
              <a:t>DA OCGAN TENIAMO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1" i="0">
                <a:solidFill>
                  <a:srgbClr val="C2553A"/>
                </a:solidFill>
                <a:latin typeface="Segoe UI"/>
              </a:rPr>
              <a:t>▪  </a:t>
            </a:r>
            <a:r>
              <a:rPr sz="1500" b="0" i="0">
                <a:solidFill>
                  <a:srgbClr val="1C2128"/>
                </a:solidFill>
                <a:latin typeface="Segoe UI"/>
              </a:rPr>
              <a:t>La ricostruzione come segnale base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1" i="0">
                <a:solidFill>
                  <a:srgbClr val="C2553A"/>
                </a:solidFill>
                <a:latin typeface="Segoe UI"/>
              </a:rPr>
              <a:t>▪  </a:t>
            </a:r>
            <a:r>
              <a:rPr sz="1500" b="0" i="0">
                <a:solidFill>
                  <a:srgbClr val="1C2128"/>
                </a:solidFill>
                <a:latin typeface="Segoe UI"/>
              </a:rPr>
              <a:t>Il controllo dello spazio latente (diventa compactness Deep-SVDD)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1" i="0">
                <a:solidFill>
                  <a:srgbClr val="C2553A"/>
                </a:solidFill>
                <a:latin typeface="Segoe UI"/>
              </a:rPr>
              <a:t>▪  </a:t>
            </a:r>
            <a:r>
              <a:rPr sz="1500" b="0" i="0">
                <a:solidFill>
                  <a:srgbClr val="1C2128"/>
                </a:solidFill>
                <a:latin typeface="Segoe UI"/>
              </a:rPr>
              <a:t>Il mining dei negativi informativi (3 step PGD-style)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645920"/>
            <a:ext cx="5394960" cy="3611880"/>
          </a:xfrm>
          <a:prstGeom prst="roundRect">
            <a:avLst>
              <a:gd name="adj" fmla="val 6000"/>
            </a:avLst>
          </a:prstGeom>
          <a:solidFill>
            <a:srgbClr val="F2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46304" rIns="164592"/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00" b="1" i="0">
                <a:solidFill>
                  <a:srgbClr val="2D6A8F"/>
                </a:solidFill>
                <a:latin typeface="Segoe UI"/>
              </a:rPr>
              <a:t>INNESTIAMO DAL MODERNO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2D6A8F"/>
                </a:solidFill>
                <a:latin typeface="Segoe UI"/>
              </a:rPr>
              <a:t>▪  </a:t>
            </a:r>
            <a:r>
              <a:rPr sz="1500" b="0" i="0">
                <a:solidFill>
                  <a:srgbClr val="1C2128"/>
                </a:solidFill>
                <a:latin typeface="Segoe UI"/>
              </a:rPr>
              <a:t>Backbone ImageNet congelato (ResNet50)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2D6A8F"/>
                </a:solidFill>
                <a:latin typeface="Segoe UI"/>
              </a:rPr>
              <a:t>▪  </a:t>
            </a:r>
            <a:r>
              <a:rPr sz="1500" b="0" i="0">
                <a:solidFill>
                  <a:srgbClr val="1C2128"/>
                </a:solidFill>
                <a:latin typeface="Segoe UI"/>
              </a:rPr>
              <a:t>Loss percettive: L1 + MS-SSIM + perceptual (via MSE)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2D6A8F"/>
                </a:solidFill>
                <a:latin typeface="Segoe UI"/>
              </a:rPr>
              <a:t>▪  </a:t>
            </a:r>
            <a:r>
              <a:rPr sz="1500" b="0" i="0">
                <a:solidFill>
                  <a:srgbClr val="1C2128"/>
                </a:solidFill>
                <a:latin typeface="Segoe UI"/>
              </a:rPr>
              <a:t>Anomalie sintetiche: CutPaste, Perlin, rumore in feature space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2D6A8F"/>
                </a:solidFill>
                <a:latin typeface="Segoe UI"/>
              </a:rPr>
              <a:t>▪  </a:t>
            </a:r>
            <a:r>
              <a:rPr sz="1500" b="0" i="0">
                <a:solidFill>
                  <a:srgbClr val="1C2128"/>
                </a:solidFill>
                <a:latin typeface="Segoe UI"/>
              </a:rPr>
              <a:t>Memory bank + teacher–student come segnali ausiliari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2D6A8F"/>
                </a:solidFill>
                <a:latin typeface="Segoe UI"/>
              </a:rPr>
              <a:t>▪  </a:t>
            </a:r>
            <a:r>
              <a:rPr sz="1500" b="0" i="0">
                <a:solidFill>
                  <a:srgbClr val="1C2128"/>
                </a:solidFill>
                <a:latin typeface="Segoe UI"/>
              </a:rPr>
              <a:t>7 score fusi con regressione logistica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577840"/>
            <a:ext cx="11091672" cy="566928"/>
          </a:xfrm>
          <a:prstGeom prst="roundRect">
            <a:avLst>
              <a:gd name="adj" fmla="val 6000"/>
            </a:avLst>
          </a:prstGeom>
          <a:solidFill>
            <a:srgbClr val="F2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6324A"/>
                </a:solidFill>
                <a:latin typeface="Segoe UI"/>
              </a:rPr>
              <a:t>Riferimenti moderni: </a:t>
            </a:r>
            <a:r>
              <a:rPr sz="1350" b="0" i="0">
                <a:solidFill>
                  <a:srgbClr val="1C2128"/>
                </a:solidFill>
                <a:latin typeface="Segoe UI"/>
              </a:rPr>
              <a:t>PaDiM, PatchCore, DRAEM, RD4AD, EfficientAD, SimpleNet.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6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6B747E"/>
                </a:solidFill>
                <a:latin typeface="Segoe UI"/>
              </a:rPr>
              <a:t>INFRASTRUTTURA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900" b="1" i="0">
                <a:solidFill>
                  <a:srgbClr val="16324A"/>
                </a:solidFill>
                <a:latin typeface="Segoe UI"/>
              </a:rPr>
              <a:t>Paperspace Gradient: la GPU in affitto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6858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500" b="1" i="0">
                <a:solidFill>
                  <a:srgbClr val="2D6A8F"/>
                </a:solidFill>
                <a:latin typeface="Segoe UI"/>
              </a:rPr>
              <a:t>▪  </a:t>
            </a:r>
            <a:r>
              <a:rPr sz="1550" b="1" i="0">
                <a:solidFill>
                  <a:srgbClr val="1C2128"/>
                </a:solidFill>
                <a:latin typeface="Segoe UI"/>
              </a:rPr>
              <a:t>Notebook cloud con GPU dedicata a costo orario</a:t>
            </a:r>
            <a:r>
              <a:rPr sz="1550" b="0" i="0">
                <a:solidFill>
                  <a:srgbClr val="1C2128"/>
                </a:solidFill>
                <a:latin typeface="Segoe UI"/>
              </a:rPr>
              <a:t> — ambiente CUDA pronto, zero amministrazione</a:t>
            </a:r>
          </a:p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500" b="1" i="0">
                <a:solidFill>
                  <a:srgbClr val="2D6A8F"/>
                </a:solidFill>
                <a:latin typeface="Segoe UI"/>
              </a:rPr>
              <a:t>▪  </a:t>
            </a:r>
            <a:r>
              <a:rPr sz="1550" b="1" i="0">
                <a:solidFill>
                  <a:srgbClr val="1C2128"/>
                </a:solidFill>
                <a:latin typeface="Segoe UI"/>
              </a:rPr>
              <a:t>Storage persistente: </a:t>
            </a:r>
            <a:r>
              <a:rPr sz="1550" b="0" i="0">
                <a:solidFill>
                  <a:srgbClr val="1C2128"/>
                </a:solidFill>
                <a:latin typeface="Segoe UI"/>
              </a:rPr>
              <a:t>dataset, checkpoint e 11.738 directory di run sopravvivono alle istanze effimere</a:t>
            </a:r>
          </a:p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500" b="1" i="0">
                <a:solidFill>
                  <a:srgbClr val="2D6A8F"/>
                </a:solidFill>
                <a:latin typeface="Segoe UI"/>
              </a:rPr>
              <a:t>▪  </a:t>
            </a:r>
            <a:r>
              <a:rPr sz="1550" b="1" i="0">
                <a:solidFill>
                  <a:srgbClr val="1C2128"/>
                </a:solidFill>
                <a:latin typeface="Segoe UI"/>
              </a:rPr>
              <a:t>Fire-and-forget: </a:t>
            </a:r>
            <a:r>
              <a:rPr sz="1550" b="0" i="0">
                <a:solidFill>
                  <a:srgbClr val="1C2128"/>
                </a:solidFill>
                <a:latin typeface="Segoe UI"/>
              </a:rPr>
              <a:t>lanci la griglia la sera, l'istanza macina da sola; paghi solo le ore di training</a:t>
            </a:r>
          </a:p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500" b="1" i="0">
                <a:solidFill>
                  <a:srgbClr val="2D6A8F"/>
                </a:solidFill>
                <a:latin typeface="Segoe UI"/>
              </a:rPr>
              <a:t>▪  </a:t>
            </a:r>
            <a:r>
              <a:rPr sz="1550" b="1" i="0">
                <a:solidFill>
                  <a:srgbClr val="C2553A"/>
                </a:solidFill>
                <a:latin typeface="Segoe UI"/>
              </a:rPr>
              <a:t>Il contro, vissuto: </a:t>
            </a:r>
            <a:r>
              <a:rPr sz="1550" b="0" i="0">
                <a:solidFill>
                  <a:srgbClr val="1C2128"/>
                </a:solidFill>
                <a:latin typeface="Segoe UI"/>
              </a:rPr>
              <a:t>sync del codice fuori da git → drift (+1.235 righe mai committate) → calibrazioni d'archivio non riproducibili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26679" y="1645920"/>
            <a:ext cx="3913632" cy="3931920"/>
          </a:xfrm>
          <a:prstGeom prst="roundRect">
            <a:avLst>
              <a:gd name="adj" fmla="val 6000"/>
            </a:avLst>
          </a:prstGeom>
          <a:solidFill>
            <a:srgbClr val="F2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46304"/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00" b="1" i="0">
                <a:solidFill>
                  <a:srgbClr val="6B747E"/>
                </a:solidFill>
                <a:latin typeface="Segoe UI"/>
              </a:rPr>
              <a:t>LE MACCHINE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6324A"/>
                </a:solidFill>
                <a:latin typeface="Segoe UI"/>
              </a:rPr>
              <a:t>RTX A4000 16 GB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200" b="0" i="0">
                <a:solidFill>
                  <a:srgbClr val="6B747E"/>
                </a:solidFill>
                <a:latin typeface="Segoe UI"/>
              </a:rPr>
              <a:t>griglia 11.7k run + final + production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6324A"/>
                </a:solidFill>
                <a:latin typeface="Segoe UI"/>
              </a:rPr>
              <a:t>Quadro RTX 5000 16 GB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200" b="0" i="0">
                <a:solidFill>
                  <a:srgbClr val="6B747E"/>
                </a:solidFill>
                <a:latin typeface="Segoe UI"/>
              </a:rPr>
              <a:t>retrain ottimizzato optv2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6324A"/>
                </a:solidFill>
                <a:latin typeface="Segoe UI"/>
              </a:rPr>
              <a:t>Quadro T1000 (locale)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47E"/>
                </a:solidFill>
                <a:latin typeface="Segoe UI"/>
              </a:rPr>
              <a:t>inferenza live della webapp (fp32)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6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6B747E"/>
                </a:solidFill>
                <a:latin typeface="Segoe UI"/>
              </a:rPr>
              <a:t>FASE 1 · GAN MODERNIZZATO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900" b="1" i="0">
                <a:solidFill>
                  <a:srgbClr val="16324A"/>
                </a:solidFill>
                <a:latin typeface="Segoe UI"/>
              </a:rPr>
              <a:t>L'architettura: un OCGAN con organi nuovi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6035040" cy="4160520"/>
          </a:xfrm>
          <a:prstGeom prst="roundRect">
            <a:avLst>
              <a:gd name="adj" fmla="val 6000"/>
            </a:avLst>
          </a:prstGeom>
          <a:solidFill>
            <a:srgbClr val="F2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6459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450" b="0" i="0">
                <a:solidFill>
                  <a:srgbClr val="1C2128"/>
                </a:solidFill>
                <a:latin typeface="Cascadia Mono"/>
              </a:rPr>
              <a:t>immagine 256×256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1" i="0">
                <a:solidFill>
                  <a:srgbClr val="2D6A8F"/>
                </a:solidFill>
                <a:latin typeface="Segoe UI"/>
              </a:rPr>
              <a:t>↓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450" b="1" i="0">
                <a:solidFill>
                  <a:srgbClr val="16324A"/>
                </a:solidFill>
                <a:latin typeface="Cascadia Mono"/>
              </a:rPr>
              <a:t>ResNet50 pre-addestrata — CONGELATA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1" i="0">
                <a:solidFill>
                  <a:srgbClr val="2D6A8F"/>
                </a:solidFill>
                <a:latin typeface="Segoe UI"/>
              </a:rPr>
              <a:t>↓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450" b="0" i="0">
                <a:solidFill>
                  <a:srgbClr val="1C2128"/>
                </a:solidFill>
                <a:latin typeface="Cascadia Mono"/>
              </a:rPr>
              <a:t>latent compatto z ∈ R¹²⁸  (compactness 0.1)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1" i="0">
                <a:solidFill>
                  <a:srgbClr val="2D6A8F"/>
                </a:solidFill>
                <a:latin typeface="Segoe UI"/>
              </a:rPr>
              <a:t>↓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450" b="0" i="0">
                <a:solidFill>
                  <a:srgbClr val="1C2128"/>
                </a:solidFill>
                <a:latin typeface="Cascadia Mono"/>
              </a:rPr>
              <a:t>decoder: 5 × [upsample ×2 → conv 3×3 → BN → ReLU]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1" i="0">
                <a:solidFill>
                  <a:srgbClr val="2D6A8F"/>
                </a:solidFill>
                <a:latin typeface="Segoe UI"/>
              </a:rPr>
              <a:t>↓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450" b="0" i="0">
                <a:solidFill>
                  <a:srgbClr val="1C2128"/>
                </a:solidFill>
                <a:latin typeface="Cascadia Mono"/>
              </a:rPr>
              <a:t>ricostruzione 256×256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1" i="0">
                <a:solidFill>
                  <a:srgbClr val="2D6A8F"/>
                </a:solidFill>
                <a:latin typeface="Segoe UI"/>
              </a:rPr>
              <a:t>↓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450" b="1" i="0">
                <a:solidFill>
                  <a:srgbClr val="16324A"/>
                </a:solidFill>
                <a:latin typeface="Cascadia Mono"/>
              </a:rPr>
              <a:t>ri-encoding nello stesso backbone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03720" y="1645920"/>
            <a:ext cx="4736592" cy="4160520"/>
          </a:xfrm>
          <a:prstGeom prst="roundRect">
            <a:avLst>
              <a:gd name="adj" fmla="val 6000"/>
            </a:avLst>
          </a:prstGeom>
          <a:solidFill>
            <a:srgbClr val="F2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64592"/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2D6A8F"/>
                </a:solidFill>
                <a:latin typeface="Segoe UI"/>
              </a:rPr>
              <a:t>7 SEGNALI DI ANOMALIA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2D6A8F"/>
                </a:solidFill>
                <a:latin typeface="Segoe UI"/>
              </a:rPr>
              <a:t>▪  </a:t>
            </a:r>
            <a:r>
              <a:rPr sz="1350" b="0" i="0">
                <a:solidFill>
                  <a:srgbClr val="1C2128"/>
                </a:solidFill>
                <a:latin typeface="Segoe UI"/>
              </a:rPr>
              <a:t>ricostruzione (L1 + MS-SSIM)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2D6A8F"/>
                </a:solidFill>
                <a:latin typeface="Segoe UI"/>
              </a:rPr>
              <a:t>▪  </a:t>
            </a:r>
            <a:r>
              <a:rPr sz="1350" b="0" i="0">
                <a:solidFill>
                  <a:srgbClr val="1C2128"/>
                </a:solidFill>
                <a:latin typeface="Segoe UI"/>
              </a:rPr>
              <a:t>perceptual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2D6A8F"/>
                </a:solidFill>
                <a:latin typeface="Segoe UI"/>
              </a:rPr>
              <a:t>▪  </a:t>
            </a:r>
            <a:r>
              <a:rPr sz="1350" b="0" i="0">
                <a:solidFill>
                  <a:srgbClr val="1C2128"/>
                </a:solidFill>
                <a:latin typeface="Segoe UI"/>
              </a:rPr>
              <a:t>feature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2D6A8F"/>
                </a:solidFill>
                <a:latin typeface="Segoe UI"/>
              </a:rPr>
              <a:t>▪  </a:t>
            </a:r>
            <a:r>
              <a:rPr sz="1350" b="0" i="0">
                <a:solidFill>
                  <a:srgbClr val="1C2128"/>
                </a:solidFill>
                <a:latin typeface="Segoe UI"/>
              </a:rPr>
              <a:t>latente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2D6A8F"/>
                </a:solidFill>
                <a:latin typeface="Segoe UI"/>
              </a:rPr>
              <a:t>▪  </a:t>
            </a:r>
            <a:r>
              <a:rPr sz="1350" b="0" i="0">
                <a:solidFill>
                  <a:srgbClr val="1C2128"/>
                </a:solidFill>
                <a:latin typeface="Segoe UI"/>
              </a:rPr>
              <a:t>memory bank (kNN su patch)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2D6A8F"/>
                </a:solidFill>
                <a:latin typeface="Segoe UI"/>
              </a:rPr>
              <a:t>▪  </a:t>
            </a:r>
            <a:r>
              <a:rPr sz="1350" b="0" i="0">
                <a:solidFill>
                  <a:srgbClr val="1C2128"/>
                </a:solidFill>
                <a:latin typeface="Segoe UI"/>
              </a:rPr>
              <a:t>discriminativo (anomalie sintetiche)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2D6A8F"/>
                </a:solidFill>
                <a:latin typeface="Segoe UI"/>
              </a:rPr>
              <a:t>▪  </a:t>
            </a:r>
            <a:r>
              <a:rPr sz="1350" b="0" i="0">
                <a:solidFill>
                  <a:srgbClr val="1C2128"/>
                </a:solidFill>
                <a:latin typeface="Segoe UI"/>
              </a:rPr>
              <a:t>teacher–student (discrepanza)</a:t>
            </a:r>
          </a:p>
          <a:p>
            <a:pPr algn="l">
              <a:spcBef>
                <a:spcPts val="800"/>
              </a:spcBef>
              <a:spcAft>
                <a:spcPts val="0"/>
              </a:spcAft>
            </a:pPr>
            <a:r>
              <a:rPr sz="1250" b="0" i="1">
                <a:solidFill>
                  <a:srgbClr val="6B747E"/>
                </a:solidFill>
                <a:latin typeface="Segoe UI"/>
              </a:rPr>
              <a:t>fusi da una regressione logistica su val_mixed, normalizzazione robusta MAD su val_normal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6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6B747E"/>
                </a:solidFill>
                <a:latin typeface="Segoe UI"/>
              </a:rPr>
              <a:t>FASE 1 · ABLATION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900" b="1" i="0">
                <a:solidFill>
                  <a:srgbClr val="16324A"/>
                </a:solidFill>
                <a:latin typeface="Segoe UI"/>
              </a:rPr>
              <a:t>3.300 run: che cosa serve davvero?</a:t>
            </a:r>
          </a:p>
        </p:txBody>
      </p:sp>
      <p:pic>
        <p:nvPicPr>
          <p:cNvPr id="5" name="Picture 4" descr="fig2_fattori_ab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012048"/>
            <a:ext cx="11091672" cy="333682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48640" y="6080760"/>
            <a:ext cx="11091672" cy="566928"/>
          </a:xfrm>
          <a:prstGeom prst="roundRect">
            <a:avLst>
              <a:gd name="adj" fmla="val 6000"/>
            </a:avLst>
          </a:prstGeom>
          <a:solidFill>
            <a:srgbClr val="F2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6324A"/>
                </a:solidFill>
                <a:latin typeface="Segoe UI"/>
              </a:rPr>
              <a:t>La fusione appresa è IL fattore: +0.22 AUROC. </a:t>
            </a:r>
            <a:r>
              <a:rPr sz="1350" b="0" i="0">
                <a:solidFill>
                  <a:srgbClr val="1C2128"/>
                </a:solidFill>
                <a:latin typeface="Segoe UI"/>
              </a:rPr>
              <a:t>Lo score one-class — l'erede più diretto di OCGAN — toglie 0.06 e viene spento: i dati battono l'affetto per le idee.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25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6B747E"/>
                </a:solidFill>
                <a:latin typeface="Segoe UI"/>
              </a:rPr>
              <a:t>FASE 1 · IL BUG PIÙ IMPORTANTE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900" b="1" i="0">
                <a:solidFill>
                  <a:srgbClr val="16324A"/>
                </a:solidFill>
                <a:latin typeface="Segoe UI"/>
              </a:rPr>
              <a:t>Il reset dell'onestà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7223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1" i="0">
                <a:solidFill>
                  <a:srgbClr val="C2553A"/>
                </a:solidFill>
                <a:latin typeface="Segoe UI"/>
              </a:rPr>
              <a:t>▪  </a:t>
            </a:r>
            <a:r>
              <a:rPr sz="1550" b="1" i="0">
                <a:solidFill>
                  <a:srgbClr val="1C2128"/>
                </a:solidFill>
                <a:latin typeface="Segoe UI"/>
              </a:rPr>
              <a:t>Tre flag di config “morti”: </a:t>
            </a:r>
            <a:r>
              <a:rPr sz="1550" b="0" i="0">
                <a:solidFill>
                  <a:srgbClr val="1C2128"/>
                </a:solidFill>
                <a:latin typeface="Segoe UI"/>
              </a:rPr>
              <a:t>use_skip_connections, unfreeze_from, scoring_topk — letti dal config, ignorati dal builder del modello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1" i="0">
                <a:solidFill>
                  <a:srgbClr val="C2553A"/>
                </a:solidFill>
                <a:latin typeface="Segoe UI"/>
              </a:rPr>
              <a:t>▪  </a:t>
            </a:r>
            <a:r>
              <a:rPr sz="1500" b="0" i="0">
                <a:solidFill>
                  <a:srgbClr val="1C2128"/>
                </a:solidFill>
                <a:latin typeface="Segoe UI"/>
              </a:rPr>
              <a:t>Esperimenti che “confrontavano architetture diverse” stavano rieseguendo la stessa rete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1" i="0">
                <a:solidFill>
                  <a:srgbClr val="C2553A"/>
                </a:solidFill>
                <a:latin typeface="Segoe UI"/>
              </a:rPr>
              <a:t>▪  </a:t>
            </a:r>
            <a:r>
              <a:rPr sz="1500" b="0" i="0">
                <a:solidFill>
                  <a:srgbClr val="1C2128"/>
                </a:solidFill>
                <a:latin typeface="Segoe UI"/>
              </a:rPr>
              <a:t>Scoperto ispezionando i pesi dei checkpoint, non i log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1" i="0">
                <a:solidFill>
                  <a:srgbClr val="C2553A"/>
                </a:solidFill>
                <a:latin typeface="Segoe UI"/>
              </a:rPr>
              <a:t>▪  </a:t>
            </a:r>
            <a:r>
              <a:rPr sz="1550" b="1" i="0">
                <a:solidFill>
                  <a:srgbClr val="1C2128"/>
                </a:solidFill>
                <a:latin typeface="Segoe UI"/>
              </a:rPr>
              <a:t>Fix → re-test completo → azzeramento dei numeri storici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1" i="0">
                <a:solidFill>
                  <a:srgbClr val="C2553A"/>
                </a:solidFill>
                <a:latin typeface="Segoe UI"/>
              </a:rPr>
              <a:t>▪  </a:t>
            </a:r>
            <a:r>
              <a:rPr sz="1550" b="1" i="0">
                <a:solidFill>
                  <a:srgbClr val="C2553A"/>
                </a:solidFill>
                <a:latin typeface="Segoe UI"/>
              </a:rPr>
              <a:t>Lezione: </a:t>
            </a:r>
            <a:r>
              <a:rPr sz="1550" b="0" i="0">
                <a:solidFill>
                  <a:srgbClr val="1C2128"/>
                </a:solidFill>
                <a:latin typeface="Segoe UI"/>
              </a:rPr>
              <a:t>un config accettato non è un config applicato — ora un test verifica che ogni chiave abbia un effetto misurabile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2331720"/>
            <a:ext cx="3291840" cy="1828800"/>
          </a:xfrm>
          <a:prstGeom prst="roundRect">
            <a:avLst>
              <a:gd name="adj" fmla="val 6000"/>
            </a:avLst>
          </a:prstGeom>
          <a:solidFill>
            <a:srgbClr val="F2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4000" b="1" i="0">
                <a:solidFill>
                  <a:srgbClr val="C2553A"/>
                </a:solidFill>
                <a:latin typeface="Segoe UI"/>
              </a:rPr>
              <a:t>0.7866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B747E"/>
                </a:solidFill>
                <a:latin typeface="Segoe UI"/>
              </a:rPr>
              <a:t>macro AUROC — la baseline onesta
da cui riparte tutto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25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6B747E"/>
                </a:solidFill>
                <a:latin typeface="Segoe UI"/>
              </a:rPr>
              <a:t>FASE 1 · RISULTATI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900" b="1" i="0">
                <a:solidFill>
                  <a:srgbClr val="16324A"/>
                </a:solidFill>
                <a:latin typeface="Segoe UI"/>
              </a:rPr>
              <a:t>La famiglia GAN: 0.8276 → 0.8378, poi il plateau</a:t>
            </a:r>
          </a:p>
        </p:txBody>
      </p:sp>
      <p:pic>
        <p:nvPicPr>
          <p:cNvPr id="5" name="Picture 4" descr="fig4_gan_per_categor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71551"/>
            <a:ext cx="11091672" cy="4172096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48640" y="6080760"/>
            <a:ext cx="11091672" cy="566928"/>
          </a:xfrm>
          <a:prstGeom prst="roundRect">
            <a:avLst>
              <a:gd name="adj" fmla="val 6000"/>
            </a:avLst>
          </a:prstGeom>
          <a:solidFill>
            <a:srgbClr val="F2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C2128"/>
                </a:solidFill>
                <a:latin typeface="Segoe UI"/>
              </a:rPr>
              <a:t>Punte eccellenti (screw 1.000, wood 1.000, hazelnut 0.991) ma cable 0.58 e metal_nut 0.62 non si spostano. </a:t>
            </a:r>
            <a:r>
              <a:rPr sz="1350" b="1" i="0">
                <a:solidFill>
                  <a:srgbClr val="16324A"/>
                </a:solidFill>
                <a:latin typeface="Segoe UI"/>
              </a:rPr>
              <a:t>E i segnali più affidabili sono proprio quelli che non si addestrano…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6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6B747E"/>
                </a:solidFill>
                <a:latin typeface="Segoe UI"/>
              </a:rPr>
              <a:t>FASE 2 · LA SVOLTA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900" b="1" i="0">
                <a:solidFill>
                  <a:srgbClr val="16324A"/>
                </a:solidFill>
                <a:latin typeface="Segoe UI"/>
              </a:rPr>
              <a:t>PatchCore: il modello che non si addestra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67665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500" b="1" i="0">
                <a:solidFill>
                  <a:srgbClr val="2D6A8F"/>
                </a:solidFill>
                <a:latin typeface="Segoe UI"/>
              </a:rPr>
              <a:t>▪  </a:t>
            </a:r>
            <a:r>
              <a:rPr sz="1600" b="1" i="0">
                <a:solidFill>
                  <a:srgbClr val="1C2128"/>
                </a:solidFill>
                <a:latin typeface="Segoe UI"/>
              </a:rPr>
              <a:t>Feature ImageNet congelate </a:t>
            </a:r>
            <a:r>
              <a:rPr sz="1600" b="0" i="0">
                <a:solidFill>
                  <a:srgbClr val="1C2128"/>
                </a:solidFill>
                <a:latin typeface="Segoe UI"/>
              </a:rPr>
              <a:t>(WideResNet50-2) + memory bank di patch normali + distanza dal vicino più prossimo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500" b="1" i="0">
                <a:solidFill>
                  <a:srgbClr val="2D6A8F"/>
                </a:solidFill>
                <a:latin typeface="Segoe UI"/>
              </a:rPr>
              <a:t>▪  </a:t>
            </a:r>
            <a:r>
              <a:rPr sz="1600" b="1" i="0">
                <a:solidFill>
                  <a:srgbClr val="1C2128"/>
                </a:solidFill>
                <a:latin typeface="Segoe UI"/>
              </a:rPr>
              <a:t>Un difetto = una patch che non assomiglia a nessuna patch normale mai vista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500" b="1" i="0">
                <a:solidFill>
                  <a:srgbClr val="2D6A8F"/>
                </a:solidFill>
                <a:latin typeface="Segoe UI"/>
              </a:rPr>
              <a:t>▪  </a:t>
            </a:r>
            <a:r>
              <a:rPr sz="1500" b="0" i="0">
                <a:solidFill>
                  <a:srgbClr val="1C2128"/>
                </a:solidFill>
                <a:latin typeface="Segoe UI"/>
              </a:rPr>
              <a:t>Niente training, niente loss, niente seed: il “modello” è la memoria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500" b="1" i="0">
                <a:solidFill>
                  <a:srgbClr val="2D6A8F"/>
                </a:solidFill>
                <a:latin typeface="Segoe UI"/>
              </a:rPr>
              <a:t>▪  </a:t>
            </a:r>
            <a:r>
              <a:rPr sz="1500" b="0" i="0">
                <a:solidFill>
                  <a:srgbClr val="1C2128"/>
                </a:solidFill>
                <a:latin typeface="Segoe UI"/>
              </a:rPr>
              <a:t>Costruzione del bank in secondi per categoria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35240" y="1783080"/>
            <a:ext cx="3977639" cy="1737360"/>
          </a:xfrm>
          <a:prstGeom prst="roundRect">
            <a:avLst>
              <a:gd name="adj" fmla="val 6000"/>
            </a:avLst>
          </a:prstGeom>
          <a:solidFill>
            <a:srgbClr val="F2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3600" b="1" i="0">
                <a:solidFill>
                  <a:srgbClr val="2D6A8F"/>
                </a:solidFill>
                <a:latin typeface="Segoe UI"/>
              </a:rPr>
              <a:t>0.9051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B747E"/>
                </a:solidFill>
                <a:latin typeface="Segoe UI"/>
              </a:rPr>
              <a:t>macro AUROC al primo tentativo:
già sopra qualunque GAN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35240" y="3794760"/>
            <a:ext cx="3977639" cy="1417320"/>
          </a:xfrm>
          <a:prstGeom prst="roundRect">
            <a:avLst>
              <a:gd name="adj" fmla="val 6000"/>
            </a:avLst>
          </a:prstGeom>
          <a:solidFill>
            <a:srgbClr val="F2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6B747E"/>
                </a:solidFill>
                <a:latin typeface="Segoe UI"/>
              </a:rPr>
              <a:t>ma con buchi vistosi:
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2553A"/>
                </a:solidFill>
                <a:latin typeface="Segoe UI"/>
              </a:rPr>
              <a:t>pill 0.61 · zipper 0.72 · capsule 0.77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6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6B747E"/>
                </a:solidFill>
                <a:latin typeface="Segoe UI"/>
              </a:rPr>
              <a:t>FASE 2 · TRE INGREDIENTI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900" b="1" i="0">
                <a:solidFill>
                  <a:srgbClr val="16324A"/>
                </a:solidFill>
                <a:latin typeface="Segoe UI"/>
              </a:rPr>
              <a:t>v1 → v2 → v3:  0.9051 → 0.9397 → 0.9828</a:t>
            </a:r>
          </a:p>
        </p:txBody>
      </p:sp>
      <p:pic>
        <p:nvPicPr>
          <p:cNvPr id="5" name="Picture 4" descr="fig7_patchcore_v1v2v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71551"/>
            <a:ext cx="11091672" cy="4172096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48640" y="6080760"/>
            <a:ext cx="11091672" cy="566928"/>
          </a:xfrm>
          <a:prstGeom prst="roundRect">
            <a:avLst>
              <a:gd name="adj" fmla="val 6000"/>
            </a:avLst>
          </a:prstGeom>
          <a:solidFill>
            <a:srgbClr val="F2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6324A"/>
                </a:solidFill>
                <a:latin typeface="Segoe UI"/>
              </a:rPr>
              <a:t>① top-k reweighted (k=9)   ② multi-scala layer2+layer3   ③ bank pieno 70k senza coreset.  </a:t>
            </a:r>
            <a:r>
              <a:rPr sz="1350" b="0" i="0">
                <a:solidFill>
                  <a:srgbClr val="1C2128"/>
                </a:solidFill>
                <a:latin typeface="Segoe UI"/>
              </a:rPr>
              <a:t>pill: 0.534 → 0.872 cambiando solo come si interroga lo stesso bank.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6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6B747E"/>
                </a:solidFill>
                <a:latin typeface="Segoe UI"/>
              </a:rPr>
              <a:t>FASE 2 · IL PARADOSSO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900" b="1" i="0">
                <a:solidFill>
                  <a:srgbClr val="16324A"/>
                </a:solidFill>
                <a:latin typeface="Segoe UI"/>
              </a:rPr>
              <a:t>Il bank pieno è più accurato E ~6× più veloce</a:t>
            </a:r>
          </a:p>
        </p:txBody>
      </p:sp>
      <p:pic>
        <p:nvPicPr>
          <p:cNvPr id="5" name="Picture 4" descr="fig8_temp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7338" y="1463040"/>
            <a:ext cx="7274275" cy="43891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48640" y="6080760"/>
            <a:ext cx="11091672" cy="566928"/>
          </a:xfrm>
          <a:prstGeom prst="roundRect">
            <a:avLst>
              <a:gd name="adj" fmla="val 6000"/>
            </a:avLst>
          </a:prstGeom>
          <a:solidFill>
            <a:srgbClr val="F2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C2128"/>
                </a:solidFill>
                <a:latin typeface="Segoe UI"/>
              </a:rPr>
              <a:t>Il tempo dominante non era la ricerca kNN: era la selezione del coreset. </a:t>
            </a:r>
            <a:r>
              <a:rPr sz="1350" b="1" i="0">
                <a:solidFill>
                  <a:srgbClr val="1F9D55"/>
                </a:solidFill>
                <a:latin typeface="Segoe UI"/>
              </a:rPr>
              <a:t>6.3 s/categoria </a:t>
            </a:r>
            <a:r>
              <a:rPr sz="1350" b="0" i="0">
                <a:solidFill>
                  <a:srgbClr val="1C2128"/>
                </a:solidFill>
                <a:latin typeface="Segoe UI"/>
              </a:rPr>
              <a:t>(hazelnut 799 s: l'unica oltre le 70k patch, il coreset scatta solo lì).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6B747E"/>
                </a:solidFill>
                <a:latin typeface="Segoe UI"/>
              </a:rPr>
              <a:t>IL SISTEMA FINALE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900" b="1" i="0">
                <a:solidFill>
                  <a:srgbClr val="16324A"/>
                </a:solidFill>
                <a:latin typeface="Segoe UI"/>
              </a:rPr>
              <a:t>Production: 0.9846 macro AUROC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3520440" cy="1463040"/>
          </a:xfrm>
          <a:prstGeom prst="roundRect">
            <a:avLst>
              <a:gd name="adj" fmla="val 6000"/>
            </a:avLst>
          </a:prstGeom>
          <a:solidFill>
            <a:srgbClr val="F2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1F9D55"/>
                </a:solidFill>
                <a:latin typeface="Segoe UI"/>
              </a:rPr>
              <a:t>4 × 1.0000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B747E"/>
                </a:solidFill>
                <a:latin typeface="Segoe UI"/>
              </a:rPr>
              <a:t>categorie perfette: bottle,
hazelnut, leather, tile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34256" y="1737360"/>
            <a:ext cx="3520440" cy="1463040"/>
          </a:xfrm>
          <a:prstGeom prst="roundRect">
            <a:avLst>
              <a:gd name="adj" fmla="val 6000"/>
            </a:avLst>
          </a:prstGeom>
          <a:solidFill>
            <a:srgbClr val="F2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1F9D55"/>
                </a:solidFill>
                <a:latin typeface="Segoe UI"/>
              </a:rPr>
              <a:t>11 ≥ 0.96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B747E"/>
                </a:solidFill>
                <a:latin typeface="Segoe UI"/>
              </a:rPr>
              <a:t>delle 15 categorie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19871" y="1737360"/>
            <a:ext cx="3520440" cy="1463040"/>
          </a:xfrm>
          <a:prstGeom prst="roundRect">
            <a:avLst>
              <a:gd name="adj" fmla="val 6000"/>
            </a:avLst>
          </a:prstGeom>
          <a:solidFill>
            <a:srgbClr val="F2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2D6A8F"/>
                </a:solidFill>
                <a:latin typeface="Segoe UI"/>
              </a:rPr>
              <a:t>0.9419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B747E"/>
                </a:solidFill>
                <a:latin typeface="Segoe UI"/>
              </a:rPr>
              <a:t>la peggiore (screw)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566160"/>
            <a:ext cx="110642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500" b="1" i="0">
                <a:solidFill>
                  <a:srgbClr val="1F9D55"/>
                </a:solidFill>
                <a:latin typeface="Segoe UI"/>
              </a:rPr>
              <a:t>▪  </a:t>
            </a:r>
            <a:r>
              <a:rPr sz="1550" b="1" i="0">
                <a:solidFill>
                  <a:srgbClr val="1C2128"/>
                </a:solidFill>
                <a:latin typeface="Segoe UI"/>
              </a:rPr>
              <a:t>Configurazione per-categoria: </a:t>
            </a:r>
            <a:r>
              <a:rPr sz="1550" b="0" i="0">
                <a:solidFill>
                  <a:srgbClr val="1C2128"/>
                </a:solidFill>
                <a:latin typeface="Segoe UI"/>
              </a:rPr>
              <a:t>layer1+2+3 solo per screw (+2.7 punti); layer2+3 per tutte le altre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500" b="1" i="0">
                <a:solidFill>
                  <a:srgbClr val="1F9D55"/>
                </a:solidFill>
                <a:latin typeface="Segoe UI"/>
              </a:rPr>
              <a:t>▪  </a:t>
            </a:r>
            <a:r>
              <a:rPr sz="1550" b="1" i="0">
                <a:solidFill>
                  <a:srgbClr val="1C2128"/>
                </a:solidFill>
                <a:latin typeface="Segoe UI"/>
              </a:rPr>
              <a:t>Soglia calibrata: </a:t>
            </a:r>
            <a:r>
              <a:rPr sz="1550" b="0" i="0">
                <a:solidFill>
                  <a:srgbClr val="1C2128"/>
                </a:solidFill>
                <a:latin typeface="Segoe UI"/>
              </a:rPr>
              <a:t>99° percentile su val_normal tenuto fuori dal bank (le immagini del bank hanno distanza ≈ 0 per costruzione: calibrarci sopra è una trappola)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500" b="1" i="0">
                <a:solidFill>
                  <a:srgbClr val="1F9D55"/>
                </a:solidFill>
                <a:latin typeface="Segoe UI"/>
              </a:rPr>
              <a:t>▪  </a:t>
            </a:r>
            <a:r>
              <a:rPr sz="1550" b="1" i="0">
                <a:solidFill>
                  <a:srgbClr val="1C2128"/>
                </a:solidFill>
                <a:latin typeface="Segoe UI"/>
              </a:rPr>
              <a:t>Operatività: </a:t>
            </a:r>
            <a:r>
              <a:rPr sz="1550" b="0" i="0">
                <a:solidFill>
                  <a:srgbClr val="1C2128"/>
                </a:solidFill>
                <a:latin typeface="Segoe UI"/>
              </a:rPr>
              <a:t>build del bank in 4–8 s per categoria, inferenza deterministica, zero training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6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6B747E"/>
                </a:solidFill>
                <a:latin typeface="Segoe UI"/>
              </a:rPr>
              <a:t>CONFRONTO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900" b="1" i="0">
                <a:solidFill>
                  <a:srgbClr val="16324A"/>
                </a:solidFill>
                <a:latin typeface="Segoe UI"/>
              </a:rPr>
              <a:t>Due paradigmi complementari</a:t>
            </a:r>
          </a:p>
        </p:txBody>
      </p:sp>
      <p:pic>
        <p:nvPicPr>
          <p:cNvPr id="5" name="Picture 4" descr="fig6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039" y="1463040"/>
            <a:ext cx="9930872" cy="43891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48640" y="6080760"/>
            <a:ext cx="11091672" cy="566928"/>
          </a:xfrm>
          <a:prstGeom prst="roundRect">
            <a:avLst>
              <a:gd name="adj" fmla="val 6000"/>
            </a:avLst>
          </a:prstGeom>
          <a:solidFill>
            <a:srgbClr val="F2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6324A"/>
                </a:solidFill>
                <a:latin typeface="Segoe UI"/>
              </a:rPr>
              <a:t>screw: GAN 1.000 vs production 0.942 — cable: production 0.996 vs GAN 0.58. </a:t>
            </a:r>
            <a:r>
              <a:rPr sz="1350" b="0" i="0">
                <a:solidFill>
                  <a:srgbClr val="1C2128"/>
                </a:solidFill>
                <a:latin typeface="Segoe UI"/>
              </a:rPr>
              <a:t>Misurano cose diverse: “che cosa so rigenerare” vs “che cosa ho già visto”.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6B747E"/>
                </a:solidFill>
                <a:latin typeface="Segoe UI"/>
              </a:rPr>
              <a:t>LA STORIA IN UN GRAFICO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900" b="1" i="0">
                <a:solidFill>
                  <a:srgbClr val="16324A"/>
                </a:solidFill>
                <a:latin typeface="Segoe UI"/>
              </a:rPr>
              <a:t>Da 0.7866 a 0.9846</a:t>
            </a:r>
          </a:p>
        </p:txBody>
      </p:sp>
      <p:pic>
        <p:nvPicPr>
          <p:cNvPr id="5" name="Picture 4" descr="fig1_evoluzi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0468" y="1463040"/>
            <a:ext cx="9588015" cy="43891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48640" y="6080760"/>
            <a:ext cx="11091672" cy="566928"/>
          </a:xfrm>
          <a:prstGeom prst="roundRect">
            <a:avLst>
              <a:gd name="adj" fmla="val 6000"/>
            </a:avLst>
          </a:prstGeom>
          <a:solidFill>
            <a:srgbClr val="F2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C2128"/>
                </a:solidFill>
                <a:latin typeface="Segoe UI"/>
              </a:rPr>
              <a:t>GAN modernizzato: +5 punti di tuning accurato. Feature congelate: +16 punti in tre mosse. </a:t>
            </a:r>
            <a:r>
              <a:rPr sz="1350" b="1" i="0">
                <a:solidFill>
                  <a:srgbClr val="16324A"/>
                </a:solidFill>
                <a:latin typeface="Segoe UI"/>
              </a:rPr>
              <a:t>La lezione era nei segnali ausiliari fin dall'inizio.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6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6B747E"/>
                </a:solidFill>
                <a:latin typeface="Segoe UI"/>
              </a:rPr>
              <a:t>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900" b="1" i="0">
                <a:solidFill>
                  <a:srgbClr val="16324A"/>
                </a:solidFill>
                <a:latin typeface="Segoe UI"/>
              </a:rPr>
              <a:t>La webapp: i modelli, dal vivo</a:t>
            </a:r>
          </a:p>
        </p:txBody>
      </p:sp>
      <p:pic>
        <p:nvPicPr>
          <p:cNvPr id="5" name="Picture 4" descr="webapp_arena_g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7571" y="1463040"/>
            <a:ext cx="5253809" cy="43891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48640" y="6080760"/>
            <a:ext cx="11091672" cy="566928"/>
          </a:xfrm>
          <a:prstGeom prst="roundRect">
            <a:avLst>
              <a:gd name="adj" fmla="val 6000"/>
            </a:avLst>
          </a:prstGeom>
          <a:solidFill>
            <a:srgbClr val="F2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6324A"/>
                </a:solidFill>
                <a:latin typeface="Segoe UI"/>
              </a:rPr>
              <a:t>Test Arena con 5 varianti live </a:t>
            </a:r>
            <a:r>
              <a:rPr sz="1350" b="0" i="0">
                <a:solidFill>
                  <a:srgbClr val="1C2128"/>
                </a:solidFill>
                <a:latin typeface="Segoe UI"/>
              </a:rPr>
              <a:t>(production, PatchCore v1/v2, OCGAN final/optv2 dai checkpoint originali) — streaming SSE, Evaluation Lab con questi stessi numeri, Dataset Explorer.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6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6B747E"/>
                </a:solidFill>
                <a:latin typeface="Segoe UI"/>
              </a:rPr>
              <a:t>CONCLUSIONI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900" b="1" i="0">
                <a:solidFill>
                  <a:srgbClr val="16324A"/>
                </a:solidFill>
                <a:latin typeface="Segoe UI"/>
              </a:rPr>
              <a:t>Cinque lezioni dal percorso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10642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700" b="1" i="0">
                <a:solidFill>
                  <a:srgbClr val="1F9D55"/>
                </a:solidFill>
                <a:latin typeface="Segoe UI"/>
              </a:rPr>
              <a:t>1.  </a:t>
            </a:r>
            <a:r>
              <a:rPr sz="1700" b="1" i="0">
                <a:solidFill>
                  <a:srgbClr val="16324A"/>
                </a:solidFill>
                <a:latin typeface="Segoe UI"/>
              </a:rPr>
              <a:t>La fusione batte il singolo segnale</a:t>
            </a:r>
            <a:r>
              <a:rPr sz="1550" b="0" i="0">
                <a:solidFill>
                  <a:srgbClr val="1C2128"/>
                </a:solidFill>
                <a:latin typeface="Segoe UI"/>
              </a:rPr>
              <a:t> — +0.22 AUROC da una regressione logistica, non da un'architettura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700" b="1" i="0">
                <a:solidFill>
                  <a:srgbClr val="1F9D55"/>
                </a:solidFill>
                <a:latin typeface="Segoe UI"/>
              </a:rPr>
              <a:t>2.  </a:t>
            </a:r>
            <a:r>
              <a:rPr sz="1700" b="1" i="0">
                <a:solidFill>
                  <a:srgbClr val="16324A"/>
                </a:solidFill>
                <a:latin typeface="Segoe UI"/>
              </a:rPr>
              <a:t>Le feature pre-addestrate sono il moltiplicatore</a:t>
            </a:r>
            <a:r>
              <a:rPr sz="1550" b="0" i="0">
                <a:solidFill>
                  <a:srgbClr val="1C2128"/>
                </a:solidFill>
                <a:latin typeface="Segoe UI"/>
              </a:rPr>
              <a:t> — portate all'estremo, sono PatchCore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700" b="1" i="0">
                <a:solidFill>
                  <a:srgbClr val="1F9D55"/>
                </a:solidFill>
                <a:latin typeface="Segoe UI"/>
              </a:rPr>
              <a:t>3.  </a:t>
            </a:r>
            <a:r>
              <a:rPr sz="1700" b="1" i="0">
                <a:solidFill>
                  <a:srgbClr val="16324A"/>
                </a:solidFill>
                <a:latin typeface="Segoe UI"/>
              </a:rPr>
              <a:t>Il rigore è una feature del risultato</a:t>
            </a:r>
            <a:r>
              <a:rPr sz="1550" b="0" i="0">
                <a:solidFill>
                  <a:srgbClr val="1C2128"/>
                </a:solidFill>
                <a:latin typeface="Segoe UI"/>
              </a:rPr>
              <a:t> — flag morti, score dannosi e trappole di calibrazione si trovano solo se i numeri devono essere onesti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700" b="1" i="0">
                <a:solidFill>
                  <a:srgbClr val="1F9D55"/>
                </a:solidFill>
                <a:latin typeface="Segoe UI"/>
              </a:rPr>
              <a:t>4.  </a:t>
            </a:r>
            <a:r>
              <a:rPr sz="1700" b="1" i="0">
                <a:solidFill>
                  <a:srgbClr val="16324A"/>
                </a:solidFill>
                <a:latin typeface="Segoe UI"/>
              </a:rPr>
              <a:t>I log dei tempi sono diagnostica</a:t>
            </a:r>
            <a:r>
              <a:rPr sz="1550" b="0" i="0">
                <a:solidFill>
                  <a:srgbClr val="1C2128"/>
                </a:solidFill>
                <a:latin typeface="Segoe UI"/>
              </a:rPr>
              <a:t> — il coreset inutile e l'outlier hazelnut sono usciti dai secondi, non dall'AUROC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700" b="1" i="0">
                <a:solidFill>
                  <a:srgbClr val="1F9D55"/>
                </a:solidFill>
                <a:latin typeface="Segoe UI"/>
              </a:rPr>
              <a:t>5.  </a:t>
            </a:r>
            <a:r>
              <a:rPr sz="1700" b="1" i="0">
                <a:solidFill>
                  <a:srgbClr val="16324A"/>
                </a:solidFill>
                <a:latin typeface="Segoe UI"/>
              </a:rPr>
              <a:t>Le idee sopravvivono ai modelli</a:t>
            </a:r>
            <a:r>
              <a:rPr sz="1550" b="0" i="0">
                <a:solidFill>
                  <a:srgbClr val="1C2128"/>
                </a:solidFill>
                <a:latin typeface="Segoe UI"/>
              </a:rPr>
              <a:t> — di OCGAN resta l'atteggiamento: cercare attivamente dove il modello sbaglia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5989320"/>
            <a:ext cx="11091672" cy="566928"/>
          </a:xfrm>
          <a:prstGeom prst="roundRect">
            <a:avLst>
              <a:gd name="adj" fmla="val 6000"/>
            </a:avLst>
          </a:prstGeom>
          <a:solidFill>
            <a:srgbClr val="F2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6324A"/>
                </a:solidFill>
                <a:latin typeface="Segoe UI"/>
              </a:rPr>
              <a:t>Grazie!  </a:t>
            </a:r>
            <a:r>
              <a:rPr sz="1350" b="0" i="0">
                <a:solidFill>
                  <a:srgbClr val="1C2128"/>
                </a:solidFill>
                <a:latin typeface="Segoe UI"/>
              </a:rPr>
              <a:t>Tutti i dettagli, le tabelle per-categoria e le ablation complete: RELAZIONE.pdf (39 pagine).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6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6B747E"/>
                </a:solidFill>
                <a:latin typeface="Segoe UI"/>
              </a:rPr>
              <a:t>DEPLOYMENT · VERIFICA &amp; RICALIBRAZIONE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900" b="1" i="0">
                <a:solidFill>
                  <a:srgbClr val="16324A"/>
                </a:solidFill>
                <a:latin typeface="Segoe UI"/>
              </a:rPr>
              <a:t>Verifica live, soglia per categoria, localizzazione pixel-level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1091672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2D6A8F"/>
                </a:solidFill>
                <a:latin typeface="Segoe UI"/>
              </a:rPr>
              <a:t>▪  </a:t>
            </a:r>
            <a:r>
              <a:rPr sz="1500" b="1" i="0">
                <a:solidFill>
                  <a:srgbClr val="1C2128"/>
                </a:solidFill>
                <a:latin typeface="Segoe UI"/>
              </a:rPr>
              <a:t>Verifica end-to-end: </a:t>
            </a:r>
            <a:r>
              <a:rPr sz="1500" b="0" i="0">
                <a:solidFill>
                  <a:srgbClr val="1C2128"/>
                </a:solidFill>
                <a:latin typeface="Segoe UI"/>
              </a:rPr>
              <a:t>verify_all.py riesegue dal vivo ogni variante x categoria — drift nullo sulle 45 combinazioni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2D6A8F"/>
                </a:solidFill>
                <a:latin typeface="Segoe UI"/>
              </a:rPr>
              <a:t>▪  </a:t>
            </a:r>
            <a:r>
              <a:rPr sz="1500" b="1" i="0">
                <a:solidFill>
                  <a:srgbClr val="1C2128"/>
                </a:solidFill>
                <a:latin typeface="Segoe UI"/>
              </a:rPr>
              <a:t>Bug della soglia su screw: </a:t>
            </a:r>
            <a:r>
              <a:rPr sz="1500" b="0" i="0">
                <a:solidFill>
                  <a:srgbClr val="1C2128"/>
                </a:solidFill>
                <a:latin typeface="Segoe UI"/>
              </a:rPr>
              <a:t>AUROC 0.93 ma accuratezza arena 0.44 — la soglia p99 dei normali e' troppo alta per una categoria rotation-variant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2D6A8F"/>
                </a:solidFill>
                <a:latin typeface="Segoe UI"/>
              </a:rPr>
              <a:t>▪  </a:t>
            </a:r>
            <a:r>
              <a:rPr sz="1500" b="1" i="0">
                <a:solidFill>
                  <a:srgbClr val="1C2128"/>
                </a:solidFill>
                <a:latin typeface="Segoe UI"/>
              </a:rPr>
              <a:t>Soglia best-F1 per categoria: </a:t>
            </a:r>
            <a:r>
              <a:rPr sz="1500" b="0" i="0">
                <a:solidFill>
                  <a:srgbClr val="1C2128"/>
                </a:solidFill>
                <a:latin typeface="Segoe UI"/>
              </a:rPr>
              <a:t>override non distruttivo: screw 0.44-&gt;0.92, capsule 0.61-&gt;0.98, zero regressioni; AUROC invariata + slider interattivo in arena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2D6A8F"/>
                </a:solidFill>
                <a:latin typeface="Segoe UI"/>
              </a:rPr>
              <a:t>▪  </a:t>
            </a:r>
            <a:r>
              <a:rPr sz="1500" b="1" i="0">
                <a:solidFill>
                  <a:srgbClr val="1C2128"/>
                </a:solidFill>
                <a:latin typeface="Segoe UI"/>
              </a:rPr>
              <a:t>Localizzazione pixel-level: </a:t>
            </a:r>
            <a:r>
              <a:rPr sz="1500" b="0" i="0">
                <a:solidFill>
                  <a:srgbClr val="1C2128"/>
                </a:solidFill>
                <a:latin typeface="Segoe UI"/>
              </a:rPr>
              <a:t>anomaly-map vs maschere ground-truth: macro pixel-AUROC 0.9714 e AUPRO@30% 0.9127 (metrica ufficiale MVTec), accanto allo 0.9846 image-level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2D6A8F"/>
                </a:solidFill>
                <a:latin typeface="Segoe UI"/>
              </a:rPr>
              <a:t>▪  </a:t>
            </a:r>
            <a:r>
              <a:rPr sz="1500" b="1" i="0">
                <a:solidFill>
                  <a:srgbClr val="1C2128"/>
                </a:solidFill>
                <a:latin typeface="Segoe UI"/>
              </a:rPr>
              <a:t>Calibrazione onesta (soglia + probabilita'): </a:t>
            </a:r>
            <a:r>
              <a:rPr sz="1500" b="0" i="0">
                <a:solidFill>
                  <a:srgbClr val="1C2128"/>
                </a:solidFill>
                <a:latin typeface="Segoe UI"/>
              </a:rPr>
              <a:t>best-F1 e' un oracle -&gt; accuratezza held-out 0.954 vs 0.968; lo score grezzo non e' una probabilita' (ECE 0.32) -&gt; calibrato Platt/isotonica ECE 0.03 (held-out)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2D6A8F"/>
                </a:solidFill>
                <a:latin typeface="Segoe UI"/>
              </a:rPr>
              <a:t>▪  </a:t>
            </a:r>
            <a:r>
              <a:rPr sz="1500" b="1" i="0">
                <a:solidFill>
                  <a:srgbClr val="1C2128"/>
                </a:solidFill>
                <a:latin typeface="Segoe UI"/>
              </a:rPr>
              <a:t>TTA rotazioni, risultato negativo: </a:t>
            </a:r>
            <a:r>
              <a:rPr sz="1500" b="0" i="0">
                <a:solidFill>
                  <a:srgbClr val="1C2128"/>
                </a:solidFill>
                <a:latin typeface="Segoe UI"/>
              </a:rPr>
              <a:t>peggiora screw (0.93-&gt;0.89), il bank gia' codifica le orientazioni. Non integrata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0927" y="5074920"/>
            <a:ext cx="3108960" cy="914400"/>
          </a:xfrm>
          <a:prstGeom prst="roundRect">
            <a:avLst>
              <a:gd name="adj" fmla="val 6000"/>
            </a:avLst>
          </a:prstGeom>
          <a:solidFill>
            <a:srgbClr val="F2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1F9D55"/>
                </a:solidFill>
                <a:latin typeface="Segoe UI"/>
              </a:rPr>
              <a:t>0.9714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B747E"/>
                </a:solidFill>
                <a:latin typeface="Segoe UI"/>
              </a:rPr>
              <a:t>macro pixel-AUROC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41367" y="5074920"/>
            <a:ext cx="3108960" cy="914400"/>
          </a:xfrm>
          <a:prstGeom prst="roundRect">
            <a:avLst>
              <a:gd name="adj" fmla="val 6000"/>
            </a:avLst>
          </a:prstGeom>
          <a:solidFill>
            <a:srgbClr val="F2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1F9D55"/>
                </a:solidFill>
                <a:latin typeface="Segoe UI"/>
              </a:rPr>
              <a:t>0.9127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B747E"/>
                </a:solidFill>
                <a:latin typeface="Segoe UI"/>
              </a:rPr>
              <a:t>AUPRO@30% (ufficiale MVTec)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61807" y="5074920"/>
            <a:ext cx="3108960" cy="914400"/>
          </a:xfrm>
          <a:prstGeom prst="roundRect">
            <a:avLst>
              <a:gd name="adj" fmla="val 6000"/>
            </a:avLst>
          </a:prstGeom>
          <a:solidFill>
            <a:srgbClr val="F2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2D6A8F"/>
                </a:solidFill>
                <a:latin typeface="Segoe UI"/>
              </a:rPr>
              <a:t>0.954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B747E"/>
                </a:solidFill>
                <a:latin typeface="Segoe UI"/>
              </a:rPr>
              <a:t>accuratezza onesta (held-out)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6080760"/>
            <a:ext cx="11091672" cy="566928"/>
          </a:xfrm>
          <a:prstGeom prst="roundRect">
            <a:avLst>
              <a:gd name="adj" fmla="val 6000"/>
            </a:avLst>
          </a:prstGeom>
          <a:solidFill>
            <a:srgbClr val="F2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6324A"/>
                </a:solidFill>
                <a:latin typeface="Segoe UI"/>
              </a:rPr>
              <a:t>Misurare l'operating point, non solo il ranking: l'AUROC era giusta, la soglia no.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6B747E"/>
                </a:solidFill>
                <a:latin typeface="Segoe UI"/>
              </a:rPr>
              <a:t>DEPLOYMENT · ROBUSTEZZA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900" b="1" i="0">
                <a:solidFill>
                  <a:srgbClr val="16324A"/>
                </a:solidFill>
                <a:latin typeface="Segoe UI"/>
              </a:rPr>
              <a:t>Tiene quando il sensore peggiora?</a:t>
            </a:r>
          </a:p>
        </p:txBody>
      </p:sp>
      <p:pic>
        <p:nvPicPr>
          <p:cNvPr id="5" name="Picture 4" descr="fig_robustn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6876" y="1463040"/>
            <a:ext cx="7315199" cy="43891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48640" y="6080760"/>
            <a:ext cx="11091672" cy="566928"/>
          </a:xfrm>
          <a:prstGeom prst="roundRect">
            <a:avLst>
              <a:gd name="adj" fmla="val 6000"/>
            </a:avLst>
          </a:prstGeom>
          <a:solidFill>
            <a:srgbClr val="F2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C2128"/>
                </a:solidFill>
                <a:latin typeface="Segoe UI"/>
              </a:rPr>
              <a:t>Pulito 0.9804. Blur, luminosita' e contrasto costano &lt;1.2 punti anche a severita' massima; </a:t>
            </a:r>
            <a:r>
              <a:rPr sz="1350" b="1" i="0">
                <a:solidFill>
                  <a:srgbClr val="16324A"/>
                </a:solidFill>
                <a:latin typeface="Segoe UI"/>
              </a:rPr>
              <a:t>solo il rumore additivo erode (-6.4 pt), trainato da zipper e capsule. </a:t>
            </a:r>
            <a:r>
              <a:rPr sz="1350" b="0" i="0">
                <a:solidFill>
                  <a:srgbClr val="1C2128"/>
                </a:solidFill>
                <a:latin typeface="Segoe UI"/>
              </a:rPr>
              <a:t>Robusto allo shift fotometrico; un denoising a monte coprirebbe il resto.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6B747E"/>
                </a:solidFill>
                <a:latin typeface="Segoe UI"/>
              </a:rPr>
              <a:t>SCELTE DI EFFICIENZA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900" b="1" i="0">
                <a:solidFill>
                  <a:srgbClr val="16324A"/>
                </a:solidFill>
                <a:latin typeface="Segoe UI"/>
              </a:rPr>
              <a:t>Cosa NON abbiamo aggiunto — e perché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11091672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1" i="0">
                <a:solidFill>
                  <a:srgbClr val="1F9D55"/>
                </a:solidFill>
                <a:latin typeface="Segoe UI"/>
              </a:rPr>
              <a:t>▪  </a:t>
            </a:r>
            <a:r>
              <a:rPr sz="1550" b="1" i="0">
                <a:solidFill>
                  <a:srgbClr val="1C2128"/>
                </a:solidFill>
                <a:latin typeface="Segoe UI"/>
              </a:rPr>
              <a:t>Niente FAISS / ANN: </a:t>
            </a:r>
            <a:r>
              <a:rPr sz="1550" b="0" i="0">
                <a:solidFill>
                  <a:srgbClr val="1C2128"/>
                </a:solidFill>
                <a:latin typeface="Segoe UI"/>
              </a:rPr>
              <a:t>a questa dimensione del bank la ricerca esatta del vicino costa secondi per categoria; un indice approssimato aggiungerebbe una dipendenza e un rischio di accuratezza per zero guadagno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1" i="0">
                <a:solidFill>
                  <a:srgbClr val="1F9D55"/>
                </a:solidFill>
                <a:latin typeface="Segoe UI"/>
              </a:rPr>
              <a:t>▪  </a:t>
            </a:r>
            <a:r>
              <a:rPr sz="1550" b="1" i="0">
                <a:solidFill>
                  <a:srgbClr val="1C2128"/>
                </a:solidFill>
                <a:latin typeface="Segoe UI"/>
              </a:rPr>
              <a:t>Niente backbone piu' pesante: </a:t>
            </a:r>
            <a:r>
              <a:rPr sz="1550" b="0" i="0">
                <a:solidFill>
                  <a:srgbClr val="1C2128"/>
                </a:solidFill>
                <a:latin typeface="Segoe UI"/>
              </a:rPr>
              <a:t>WideResNet50-2 congelata raggiunge gia' 0.9846 macro; l'intero sistema addestra e serve su una GPU da 4 GB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1" i="0">
                <a:solidFill>
                  <a:srgbClr val="1F9D55"/>
                </a:solidFill>
                <a:latin typeface="Segoe UI"/>
              </a:rPr>
              <a:t>▪  </a:t>
            </a:r>
            <a:r>
              <a:rPr sz="1550" b="1" i="0">
                <a:solidFill>
                  <a:srgbClr val="1C2128"/>
                </a:solidFill>
                <a:latin typeface="Segoe UI"/>
              </a:rPr>
              <a:t>Ensemble GAN + PatchCore, misurato non assunto: </a:t>
            </a:r>
            <a:r>
              <a:rPr sz="1550" b="0" i="0">
                <a:solidFill>
                  <a:srgbClr val="1C2128"/>
                </a:solidFill>
                <a:latin typeface="Segoe UI"/>
              </a:rPr>
              <a:t>peso di fusione scelto su fold di calibrazione e validato su fold held-out — nessun guadagno materiale sul macro AUROC: il PatchCore da solo domina, quindi spediamo il sistema piu' semplice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4709160"/>
            <a:ext cx="3520440" cy="1143000"/>
          </a:xfrm>
          <a:prstGeom prst="roundRect">
            <a:avLst>
              <a:gd name="adj" fmla="val 6000"/>
            </a:avLst>
          </a:prstGeom>
          <a:solidFill>
            <a:srgbClr val="F2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1F9D55"/>
                </a:solidFill>
                <a:latin typeface="Segoe UI"/>
              </a:rPr>
              <a:t>4 GB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B747E"/>
                </a:solidFill>
                <a:latin typeface="Segoe UI"/>
              </a:rPr>
              <a:t>tutta l'inferenza su Quadro T1000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34256" y="4709160"/>
            <a:ext cx="3520440" cy="1143000"/>
          </a:xfrm>
          <a:prstGeom prst="roundRect">
            <a:avLst>
              <a:gd name="adj" fmla="val 6000"/>
            </a:avLst>
          </a:prstGeom>
          <a:solidFill>
            <a:srgbClr val="F2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1F9D55"/>
                </a:solidFill>
                <a:latin typeface="Segoe UI"/>
              </a:rPr>
              <a:t>~6 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B747E"/>
                </a:solidFill>
                <a:latin typeface="Segoe UI"/>
              </a:rPr>
              <a:t>build del bank per categoria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19871" y="4709160"/>
            <a:ext cx="3520440" cy="1143000"/>
          </a:xfrm>
          <a:prstGeom prst="roundRect">
            <a:avLst>
              <a:gd name="adj" fmla="val 6000"/>
            </a:avLst>
          </a:prstGeom>
          <a:solidFill>
            <a:srgbClr val="F2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2D6A8F"/>
                </a:solidFill>
                <a:latin typeface="Segoe UI"/>
              </a:rPr>
              <a:t>0.9846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B747E"/>
                </a:solidFill>
                <a:latin typeface="Segoe UI"/>
              </a:rPr>
              <a:t>macro AUROC, gia' al target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6080760"/>
            <a:ext cx="11091672" cy="566928"/>
          </a:xfrm>
          <a:prstGeom prst="roundRect">
            <a:avLst>
              <a:gd name="adj" fmla="val 6000"/>
            </a:avLst>
          </a:prstGeom>
          <a:solidFill>
            <a:srgbClr val="F2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6324A"/>
                </a:solidFill>
                <a:latin typeface="Segoe UI"/>
              </a:rPr>
              <a:t>Efficienza come scelta progettuale: gli obiettivi alti sono raggiunti senza complessita' aggiuntiva.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