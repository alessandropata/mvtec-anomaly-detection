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601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16324A"/>
                </a:solidFill>
                <a:latin typeface="Segoe UI"/>
              </a:rPr>
              <a:t>Da OCGAN a PatchCore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514600"/>
            <a:ext cx="92628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6B747E"/>
                </a:solidFill>
                <a:latin typeface="Segoe UI"/>
              </a:rPr>
              <a:t>Anomaly detection one-class: da un paper CVPR 2019 a un sistema industriale su MVTec 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310128"/>
            <a:ext cx="92628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C2128"/>
                </a:solidFill>
                <a:latin typeface="Segoe UI"/>
              </a:rPr>
              <a:t>Alessandro Pata  ·  giugno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927" y="429768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D6A8F"/>
                </a:solidFill>
                <a:latin typeface="Segoe UI"/>
              </a:rPr>
              <a:t>11.738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run di ablation su disco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41367" y="429768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D6A8F"/>
                </a:solidFill>
                <a:latin typeface="Segoe UI"/>
              </a:rPr>
              <a:t>15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categorie MVTec 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1807" y="429768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F9D55"/>
                </a:solidFill>
                <a:latin typeface="Segoe UI"/>
              </a:rPr>
              <a:t>0.9846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macro AUROC finale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2019 · IL PUNTO DI PARTENZA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OCGAN — One-Class Novelty Detection (CVPR 2019)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766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L'idea: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non basta ricostruire bene la classe normale — l'intero spazio latente deve rappresentare solo la normalità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Informative-negative mining: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ricerca adversariale (gradient ascent nel latent) delle zone che generano immagini fuori classe — e lì si rieduca il generatore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4 componenti: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denoising autoencoder + latent discriminator + visual discriminator + classificatore che guida il mining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Score finale: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solo errore di ricostruzione (MSE), loss = 10·MSE + termini adversariali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600200"/>
            <a:ext cx="3977639" cy="329184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6B747E"/>
                </a:solidFill>
                <a:latin typeface="Segoe UI"/>
              </a:rPr>
              <a:t>I numeri del paper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C2128"/>
                </a:solidFill>
                <a:latin typeface="Segoe UI"/>
              </a:rPr>
              <a:t>MNIST    </a:t>
            </a:r>
            <a:r>
              <a:rPr sz="2000" b="1" i="0">
                <a:solidFill>
                  <a:srgbClr val="2D6A8F"/>
                </a:solidFill>
                <a:latin typeface="Segoe UI"/>
              </a:rPr>
              <a:t>0.9750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2128"/>
                </a:solidFill>
                <a:latin typeface="Segoe UI"/>
              </a:rPr>
              <a:t>CIFAR-10  </a:t>
            </a:r>
            <a:r>
              <a:rPr sz="2000" b="1" i="0">
                <a:solidFill>
                  <a:srgbClr val="C2553A"/>
                </a:solidFill>
                <a:latin typeface="Segoe UI"/>
              </a:rPr>
              <a:t>0.6566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6B747E"/>
                </a:solidFill>
                <a:latin typeface="Segoe UI"/>
              </a:rPr>
              <a:t>Ablation: l'autoencoder da solo fa già 0.957; tutto l'apparato adversariale aggiunge +0.018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1208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Limiti: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immagini piccole mono-concetto, score solo pixel, risultati misurati una volta sola.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L'OBIETTIVO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Dal benchmark accademico al problema industriale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MVTec AD: </a:t>
            </a:r>
            <a:r>
              <a:rPr sz="1600" b="0" i="0">
                <a:solidFill>
                  <a:srgbClr val="1C2128"/>
                </a:solidFill>
                <a:latin typeface="Segoe UI"/>
              </a:rPr>
              <a:t>15 categorie (10 oggetti + 5 texture), training solo su pezzi integri, difetti reali al test (graffi, contaminazioni, parti mancanti…)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Protocollo a 4 split: </a:t>
            </a:r>
            <a:r>
              <a:rPr sz="1600" b="0" i="0">
                <a:solidFill>
                  <a:srgbClr val="1C2128"/>
                </a:solidFill>
                <a:latin typeface="Segoe UI"/>
              </a:rPr>
              <a:t>train_normal / val_normal / val_mixed / test blind — il test non tocca mai il tuning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Multi-seed obbligatorio: </a:t>
            </a:r>
            <a:r>
              <a:rPr sz="1600" b="0" i="0">
                <a:solidFill>
                  <a:srgbClr val="1C2128"/>
                </a:solidFill>
                <a:latin typeface="Segoe UI"/>
              </a:rPr>
              <a:t>3–5 seed, media ± std (su toothbrush la std del GAN è ±0.17: un seed solo racconta qualunque storia)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Metrica guida: </a:t>
            </a:r>
            <a:r>
              <a:rPr sz="1600" b="0" i="0">
                <a:solidFill>
                  <a:srgbClr val="1C2128"/>
                </a:solidFill>
                <a:latin typeface="Segoe UI"/>
              </a:rPr>
              <a:t>macro AUROC sulle 15 categorie, più AUPRC, F1 e FPR@95TPR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LA 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Binario B: modernizzare OCGAN, non difenderlo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94960" cy="361188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 rIns="164592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C2553A"/>
                </a:solidFill>
                <a:latin typeface="Segoe UI"/>
              </a:rPr>
              <a:t>DA OCGAN TENIAMO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La ricostruzione come segnale base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Il controllo dello spazio latente (diventa compactness Deep-SVDD)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Il mining dei negativi informativi (3 step PGD-style)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45920"/>
            <a:ext cx="5394960" cy="361188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 rIns="164592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2D6A8F"/>
                </a:solidFill>
                <a:latin typeface="Segoe UI"/>
              </a:rPr>
              <a:t>INNESTIAMO DAL MODERNO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Backbone ImageNet congelato (ResNet50)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Loss percettive: L1 + MS-SSIM + perceptual (via MSE)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Anomalie sintetiche: CutPaste, Perlin, rumore in feature space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Memory bank + teacher–student come segnali ausiliari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7 score fusi con regressione logistica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57784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Riferimenti moderni: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PaDiM, PatchCore, DRAEM, RD4AD, EfficientAD, SimpleNet.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INFRASTRUTTURA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Paperspace Gradient: la GPU in affitto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Notebook cloud con GPU dedicata a costo orario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ambiente CUDA pronto, zero amministrazione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Storage persistente: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dataset, checkpoint e 11.738 directory di run sopravvivono alle istanze effimere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Fire-and-forget: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lanci la griglia la sera, l'istanza macina da sola; paghi solo le ore di training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C2553A"/>
                </a:solidFill>
                <a:latin typeface="Segoe UI"/>
              </a:rPr>
              <a:t>Il contro, vissuto: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sync del codice fuori da git → drift (+1.235 righe mai committate) → calibrazioni d'archivio non riproducibili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26679" y="1645920"/>
            <a:ext cx="3913632" cy="39319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4630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6B747E"/>
                </a:solidFill>
                <a:latin typeface="Segoe UI"/>
              </a:rPr>
              <a:t>LE MACCHINE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6324A"/>
                </a:solidFill>
                <a:latin typeface="Segoe UI"/>
              </a:rPr>
              <a:t>RTX A4000 16 GB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6B747E"/>
                </a:solidFill>
                <a:latin typeface="Segoe UI"/>
              </a:rPr>
              <a:t>griglia 11.7k run + final + production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6324A"/>
                </a:solidFill>
                <a:latin typeface="Segoe UI"/>
              </a:rPr>
              <a:t>Quadro RTX 5000 16 GB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6B747E"/>
                </a:solidFill>
                <a:latin typeface="Segoe UI"/>
              </a:rPr>
              <a:t>retrain ottimizzato optv2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6324A"/>
                </a:solidFill>
                <a:latin typeface="Segoe UI"/>
              </a:rPr>
              <a:t>Quadro T1000 (locale)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47E"/>
                </a:solidFill>
                <a:latin typeface="Segoe UI"/>
              </a:rPr>
              <a:t>inferenza live della webapp (fp32)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1 · GAN MODERNIZZATO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L'architettura: un OCGAN con organi nuovi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6035040" cy="41605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0" i="0">
                <a:solidFill>
                  <a:srgbClr val="1C2128"/>
                </a:solidFill>
                <a:latin typeface="Cascadia Mono"/>
              </a:rPr>
              <a:t>immagine 256×256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2D6A8F"/>
                </a:solidFill>
                <a:latin typeface="Segoe UI"/>
              </a:rPr>
              <a:t>↓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6324A"/>
                </a:solidFill>
                <a:latin typeface="Cascadia Mono"/>
              </a:rPr>
              <a:t>ResNet50 pre-addestrata — CONGELATA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2D6A8F"/>
                </a:solidFill>
                <a:latin typeface="Segoe UI"/>
              </a:rPr>
              <a:t>↓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0" i="0">
                <a:solidFill>
                  <a:srgbClr val="1C2128"/>
                </a:solidFill>
                <a:latin typeface="Cascadia Mono"/>
              </a:rPr>
              <a:t>latent compatto z ∈ R¹²⁸  (compactness 0.1)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2D6A8F"/>
                </a:solidFill>
                <a:latin typeface="Segoe UI"/>
              </a:rPr>
              <a:t>↓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0" i="0">
                <a:solidFill>
                  <a:srgbClr val="1C2128"/>
                </a:solidFill>
                <a:latin typeface="Cascadia Mono"/>
              </a:rPr>
              <a:t>decoder: 5 × [upsample ×2 → conv 3×3 → BN → ReLU]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2D6A8F"/>
                </a:solidFill>
                <a:latin typeface="Segoe UI"/>
              </a:rPr>
              <a:t>↓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0" i="0">
                <a:solidFill>
                  <a:srgbClr val="1C2128"/>
                </a:solidFill>
                <a:latin typeface="Cascadia Mono"/>
              </a:rPr>
              <a:t>ricostruzione 256×256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2D6A8F"/>
                </a:solidFill>
                <a:latin typeface="Segoe UI"/>
              </a:rPr>
              <a:t>↓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6324A"/>
                </a:solidFill>
                <a:latin typeface="Cascadia Mono"/>
              </a:rPr>
              <a:t>ri-encoding nello stesso backbone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645920"/>
            <a:ext cx="4736592" cy="41605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2D6A8F"/>
                </a:solidFill>
                <a:latin typeface="Segoe UI"/>
              </a:rPr>
              <a:t>7 SEGNALI DI ANOMALIA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ricostruzione (L1 + MS-SSIM)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perceptual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feature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latente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memory bank (kNN su patch)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discriminativo (anomalie sintetiche)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teacher–student (discrepanza)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 i="1">
                <a:solidFill>
                  <a:srgbClr val="6B747E"/>
                </a:solidFill>
                <a:latin typeface="Segoe UI"/>
              </a:rPr>
              <a:t>fusi da una regressione logistica su val_mixed, normalizzazione robusta MAD su val_normal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1 ·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3.300 run: che cosa serve davvero?</a:t>
            </a:r>
          </a:p>
        </p:txBody>
      </p:sp>
      <p:pic>
        <p:nvPicPr>
          <p:cNvPr id="5" name="Picture 4" descr="fig2_fattori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113"/>
            <a:ext cx="11091672" cy="33386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La fusione appresa è IL fattore: +0.22 AUROC.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Lo score one-class — l'erede più diretto di OCGAN — toglie 0.06 e viene spento: i dati battono l'affetto per le idee.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2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1 · IL BUG PIÙ IMPORTANTE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Il reset dell'onestà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Tre flag di config “morti”: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use_skip_connections, unfreeze_from, scoring_topk — letti dal config, ignorati dal builder del modello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Esperimenti che “confrontavano architetture diverse” stavano rieseguendo la stessa rete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Scoperto ispezionando i pesi dei checkpoint, non i log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Fix → re-test completo → azzeramento dei numeri storici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C2553A"/>
                </a:solidFill>
                <a:latin typeface="Segoe UI"/>
              </a:rPr>
              <a:t>Lezione: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un config accettato non è un config applicato — ora un test verifica che ogni chiave abbia un effetto misurabile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33172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C2553A"/>
                </a:solidFill>
                <a:latin typeface="Segoe UI"/>
              </a:rPr>
              <a:t>0.7866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macro AUROC — la baseline onesta
da cui riparte tutto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2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1 · RISULTATI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La famiglia GAN: 0.8276 → 0.8378, poi il plateau</a:t>
            </a:r>
          </a:p>
        </p:txBody>
      </p:sp>
      <p:pic>
        <p:nvPicPr>
          <p:cNvPr id="5" name="Picture 4" descr="fig4_gan_per_categ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71551"/>
            <a:ext cx="11091672" cy="41720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Punte eccellenti (screw 1.000, wood 1.000, hazelnut 0.991) ma cable 0.58 e metal_nut 0.62 non si spostano. </a:t>
            </a:r>
            <a:r>
              <a:rPr sz="1350" b="1" i="0">
                <a:solidFill>
                  <a:srgbClr val="16324A"/>
                </a:solidFill>
                <a:latin typeface="Segoe UI"/>
              </a:rPr>
              <a:t>E i segnali più affidabili sono proprio quelli che non si addestrano…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2 · LA SVOLTA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PatchCore: il modello che non si addestra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6766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Feature ImageNet congelate </a:t>
            </a:r>
            <a:r>
              <a:rPr sz="1600" b="0" i="0">
                <a:solidFill>
                  <a:srgbClr val="1C2128"/>
                </a:solidFill>
                <a:latin typeface="Segoe UI"/>
              </a:rPr>
              <a:t>(WideResNet50-2) + memory bank di patch normali + distanza dal vicino più prossimo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Un difetto = una patch che non assomiglia a nessuna patch normale mai vista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Niente training, niente loss, niente seed: il “modello” è la memoria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Costruzione del bank in secondi per categoria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783080"/>
            <a:ext cx="3977639" cy="173736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D6A8F"/>
                </a:solidFill>
                <a:latin typeface="Segoe UI"/>
              </a:rPr>
              <a:t>0.9051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macro AUROC al primo tentativo:
già sopra qualunque GAN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3794760"/>
            <a:ext cx="3977639" cy="14173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B747E"/>
                </a:solidFill>
                <a:latin typeface="Segoe UI"/>
              </a:rPr>
              <a:t>ma con buchi vistosi:
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pill 0.61 · zipper 0.72 · capsule 0.77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2 · TRE INGREDIENTI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v1 → v2 → v3:  0.9051 → 0.9397 → 0.9828</a:t>
            </a:r>
          </a:p>
        </p:txBody>
      </p:sp>
      <p:pic>
        <p:nvPicPr>
          <p:cNvPr id="5" name="Picture 4" descr="fig7_patchcore_v1v2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71551"/>
            <a:ext cx="11091672" cy="41720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① top-k reweighted (k=9)   ② multi-scala layer2+layer3   ③ bank pieno 70k senza coreset.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pill: 0.534 → 0.872 cambiando solo come si interroga lo stesso bank.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2 · IL PARADOSSO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Il bank pieno è più accurato E ~6× più veloce</a:t>
            </a:r>
          </a:p>
        </p:txBody>
      </p:sp>
      <p:pic>
        <p:nvPicPr>
          <p:cNvPr id="5" name="Picture 4" descr="fig8_tem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338" y="1463040"/>
            <a:ext cx="7274275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Il tempo dominante non era la ricerca kNN: era la selezione del coreset. </a:t>
            </a:r>
            <a:r>
              <a:rPr sz="1350" b="1" i="0">
                <a:solidFill>
                  <a:srgbClr val="1F9D55"/>
                </a:solidFill>
                <a:latin typeface="Segoe UI"/>
              </a:rPr>
              <a:t>6.3 s/categoria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(hazelnut 799 s: l'unica oltre le 70k patch, il coreset scatta solo lì).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IL SISTEMA FINALE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Production: 0.9846 macro AUROC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F9D55"/>
                </a:solidFill>
                <a:latin typeface="Segoe UI"/>
              </a:rPr>
              <a:t>4 × 1.0000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categorie perfette: bottle,
hazelnut, leather, tile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73736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F9D55"/>
                </a:solidFill>
                <a:latin typeface="Segoe UI"/>
              </a:rPr>
              <a:t>11 ≥ 0.96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delle 15 categorie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1" y="173736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D6A8F"/>
                </a:solidFill>
                <a:latin typeface="Segoe UI"/>
              </a:rPr>
              <a:t>0.9419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la peggiore (screw)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Configurazione per-categoria: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layer1+2+3 solo per screw (+2.7 punti); layer2+3 per tutte le altre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Soglia calibrata: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99° percentile su val_normal tenuto fuori dal bank (le immagini del bank hanno distanza ≈ 0 per costruzione: calibrarci sopra è una trappola)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Operatività: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build del bank in 4–8 s per categoria, inferenza deterministica, zero 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CONFRONTO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Due paradigmi complementari</a:t>
            </a:r>
          </a:p>
        </p:txBody>
      </p:sp>
      <p:pic>
        <p:nvPicPr>
          <p:cNvPr id="5" name="Picture 4" descr="fig6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647" y="1463040"/>
            <a:ext cx="9909657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screw: GAN 1.000 vs production 0.942 — cable: production 0.996 vs GAN 0.58.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Misurano cose diverse: “che cosa so rigenerare” vs “che cosa ho già visto”.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LA STORIA IN UN GRAFICO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Da 0.7866 a 0.9846</a:t>
            </a:r>
          </a:p>
        </p:txBody>
      </p:sp>
      <p:pic>
        <p:nvPicPr>
          <p:cNvPr id="5" name="Picture 4" descr="fig1_evolu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468" y="1463040"/>
            <a:ext cx="9588015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GAN modernizzato: +5 punti di tuning accurato. Feature congelate: +16 punti in tre mosse. </a:t>
            </a:r>
            <a:r>
              <a:rPr sz="1350" b="1" i="0">
                <a:solidFill>
                  <a:srgbClr val="16324A"/>
                </a:solidFill>
                <a:latin typeface="Segoe UI"/>
              </a:rPr>
              <a:t>La lezione era nei segnali ausiliari fin dall'inizio.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La webapp: i modelli, dal vivo</a:t>
            </a:r>
          </a:p>
        </p:txBody>
      </p:sp>
      <p:pic>
        <p:nvPicPr>
          <p:cNvPr id="5" name="Picture 4" descr="webapp_arena_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571" y="1463040"/>
            <a:ext cx="5253809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Test Arena con 5 varianti live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(production, PatchCore v1/v2, OCGAN final/optv2 dai checkpoint originali) — streaming SSE, Evaluation Lab con questi stessi numeri, Dataset Explorer.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CONCLUSIONI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Cinque lezioni dal percorso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F9D55"/>
                </a:solidFill>
                <a:latin typeface="Segoe UI"/>
              </a:rPr>
              <a:t>1.  </a:t>
            </a:r>
            <a:r>
              <a:rPr sz="1700" b="1" i="0">
                <a:solidFill>
                  <a:srgbClr val="16324A"/>
                </a:solidFill>
                <a:latin typeface="Segoe UI"/>
              </a:rPr>
              <a:t>La fusione batte il singolo segnale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+0.22 AUROC da una regressione logistica, non da un'architettura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F9D55"/>
                </a:solidFill>
                <a:latin typeface="Segoe UI"/>
              </a:rPr>
              <a:t>2.  </a:t>
            </a:r>
            <a:r>
              <a:rPr sz="1700" b="1" i="0">
                <a:solidFill>
                  <a:srgbClr val="16324A"/>
                </a:solidFill>
                <a:latin typeface="Segoe UI"/>
              </a:rPr>
              <a:t>Le feature pre-addestrate sono il moltiplicatore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portate all'estremo, sono PatchCore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F9D55"/>
                </a:solidFill>
                <a:latin typeface="Segoe UI"/>
              </a:rPr>
              <a:t>3.  </a:t>
            </a:r>
            <a:r>
              <a:rPr sz="1700" b="1" i="0">
                <a:solidFill>
                  <a:srgbClr val="16324A"/>
                </a:solidFill>
                <a:latin typeface="Segoe UI"/>
              </a:rPr>
              <a:t>Il rigore è una feature del risultato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flag morti, score dannosi e trappole di calibrazione si trovano solo se i numeri devono essere onesti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F9D55"/>
                </a:solidFill>
                <a:latin typeface="Segoe UI"/>
              </a:rPr>
              <a:t>4.  </a:t>
            </a:r>
            <a:r>
              <a:rPr sz="1700" b="1" i="0">
                <a:solidFill>
                  <a:srgbClr val="16324A"/>
                </a:solidFill>
                <a:latin typeface="Segoe UI"/>
              </a:rPr>
              <a:t>I log dei tempi sono diagnostica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il coreset inutile e l'outlier hazelnut sono usciti dai secondi, non dall'AUROC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F9D55"/>
                </a:solidFill>
                <a:latin typeface="Segoe UI"/>
              </a:rPr>
              <a:t>5.  </a:t>
            </a:r>
            <a:r>
              <a:rPr sz="1700" b="1" i="0">
                <a:solidFill>
                  <a:srgbClr val="16324A"/>
                </a:solidFill>
                <a:latin typeface="Segoe UI"/>
              </a:rPr>
              <a:t>Le idee sopravvivono ai modelli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di OCGAN resta l'atteggiamento: cercare attivamente dove il modello sbaglia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9893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324A"/>
                </a:solidFill>
                <a:latin typeface="Segoe UI"/>
              </a:rPr>
              <a:t>Grazie!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Tutti i dettagli, le tabelle per-categoria e le ablation complete: RELAZIONE.pdf (39 pagine).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DEPLOYMENT · VERIFICA &amp; RICALIBRAZIONE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Verifica live, soglia per categoria, localizzazione pixel-level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Verifica end-to-end: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verify_all.py riesegue dal vivo ogni variante x categoria — drift nullo sulle 45 combinazioni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Bug della soglia su screw: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AUROC 0.93 ma accuratezza arena 0.44 — la soglia p99 dei normali e' troppo alta per una categoria rotation-variant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Soglia best-F1 per categoria: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override non distruttivo: screw 0.44-&gt;0.92, capsule 0.61-&gt;0.98, zero regressioni; AUROC invariata + slider interattivo in arena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Localizzazione pixel-level: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anomaly-map vs maschere ground-truth: macro pixel-AUROC 0.9714 e AUPRO@30% 0.9127 (metrica ufficiale MVTec), accanto allo 0.9846 image-level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Soglia onesta, non oracle: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la best-F1 guarda le etichette del test; con cross-validation l'accuratezza dispiegabile e' 0.954 vs 0.968 oracle (gap +1.4pp): l'operating point e' stabile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TTA rotazioni, risultato negativo: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peggiora screw (0.93-&gt;0.89), il bank gia' codifica le orientazioni. Non integrata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0927" y="507492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F9D55"/>
                </a:solidFill>
                <a:latin typeface="Segoe UI"/>
              </a:rPr>
              <a:t>0.9714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macro pixel-AUROC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1367" y="507492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F9D55"/>
                </a:solidFill>
                <a:latin typeface="Segoe UI"/>
              </a:rPr>
              <a:t>0.9127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AUPRO@30% (ufficiale MVTec)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1807" y="507492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D6A8F"/>
                </a:solidFill>
                <a:latin typeface="Segoe UI"/>
              </a:rPr>
              <a:t>0.954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accuratezza onesta (held-out)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324A"/>
                </a:solidFill>
                <a:latin typeface="Segoe UI"/>
              </a:rPr>
              <a:t>Misurare l'operating point, non solo il ranking: l'AUROC era giusta, la soglia no.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SCELTE DI EFFICIENZA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Cosa NON abbiamo aggiunto — e perché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Niente FAISS / ANN: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a questa dimensione del bank la ricerca esatta del vicino costa secondi per categoria; un indice approssimato aggiungerebbe una dipendenza e un rischio di accuratezza per zero guadagno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Niente backbone piu' pesante: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WideResNet50-2 congelata raggiunge gia' 0.9846 macro; l'intero sistema addestra e serve su una GPU da 4 GB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Ensemble GAN + PatchCore, misurato non assunto: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peso di fusione scelto su fold di calibrazione e validato su fold held-out — nessun guadagno materiale sul macro AUROC: il PatchCore da solo domina, quindi spediamo il sistema piu' semplice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7091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F9D55"/>
                </a:solidFill>
                <a:latin typeface="Segoe UI"/>
              </a:rPr>
              <a:t>4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tutta l'inferenza su Quadro T1000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47091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F9D55"/>
                </a:solidFill>
                <a:latin typeface="Segoe UI"/>
              </a:rPr>
              <a:t>~6 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build del bank per categoria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1" y="47091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D6A8F"/>
                </a:solidFill>
                <a:latin typeface="Segoe UI"/>
              </a:rPr>
              <a:t>0.9846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macro AUROC, gia' al target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324A"/>
                </a:solidFill>
                <a:latin typeface="Segoe UI"/>
              </a:rPr>
              <a:t>Efficienza come scelta progettuale: gli obiettivi alti sono raggiunti senza complessita' aggiuntiva.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